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80B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Fundamentos de Programación Moderna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84048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FFFFFF"/>
                </a:solidFill>
              </a:defRPr>
            </a:pPr>
            <a:r>
              <a:t>Variables, control de flujo y lógica 🧮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¿Qué vamos a aprender?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1600"/>
              <a:t>💡 </a:t>
            </a:r>
            <a:r>
              <a:rPr sz="1600" i="1">
                <a:solidFill>
                  <a:srgbClr val="F1C40F"/>
                </a:solidFill>
              </a:rPr>
              <a:t>¡Hoy empezamos a programar de verdad! 💻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Objetivo 1: Entender qué son las variables y tipos de datos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Objetivo 2: Escribir expresiones y sentencias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Objetivo 3: Controlar el flujo del programa con decisiones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Objetivo 4: Usar ciclos para repetir tareas</a:t>
            </a:r>
          </a:p>
          <a:p>
            <a:r>
              <a:rPr sz="1600"/>
              <a:t>📝 </a:t>
            </a:r>
            <a:r>
              <a:rPr sz="1600" i="1">
                <a:solidFill>
                  <a:srgbClr val="2ECC71"/>
                </a:solidFill>
              </a:rPr>
              <a:t>Como organizar cajas con diferentes objetos y decidir qué hacer con cada una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Variables: Las Cajas de Memoria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1600"/>
              <a:t>💡 </a:t>
            </a:r>
            <a:r>
              <a:rPr sz="1600" i="1">
                <a:solidFill>
                  <a:srgbClr val="F1C40F"/>
                </a:solidFill>
              </a:rPr>
              <a:t>Una variable es como una caja etiquetada donde guardamos datos 📦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Cada variable tiene un nombre (etiqueta)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Cada variable almacena un valor</a:t>
            </a:r>
          </a:p>
          <a:p>
            <a:r>
              <a:rPr sz="1600"/>
              <a:t>📝 </a:t>
            </a:r>
            <a:r>
              <a:rPr sz="1600" i="1">
                <a:solidFill>
                  <a:srgbClr val="2ECC71"/>
                </a:solidFill>
              </a:rPr>
              <a:t>nombre_empresa = "Mi Empresa S.A."
saldo = 1500000
activo = True
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✅ La computadora reserva memoria para guardar estos valores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Tipos de Datos Primitivos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0" y="1828800"/>
          <a:ext cx="73152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8400"/>
                <a:gridCol w="2438400"/>
                <a:gridCol w="2438400"/>
              </a:tblGrid>
              <a:tr h="731520"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Tipo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Uso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Ejemplo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Enteros (int) 🔢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IDs, cantidades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id_usuario = 12345</a:t>
                      </a:r>
                    </a:p>
                  </a:txBody>
                  <a:tcPr/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Flotantes (float) 💰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Dinero, precios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precio = 19.99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Textos (string) 📝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Nombres, emails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nombre = "Juan"</a:t>
                      </a:r>
                    </a:p>
                  </a:txBody>
                  <a:tcPr/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Booleanos (bool) ✓✗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Estados sí/no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activo = True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Operadores Aritméticos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0" y="1828800"/>
          <a:ext cx="73152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8400"/>
                <a:gridCol w="2438400"/>
                <a:gridCol w="2438400"/>
              </a:tblGrid>
              <a:tr h="609600"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Operador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Operación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Ejemplo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Suma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10 + 5 = 15</a:t>
                      </a:r>
                    </a:p>
                  </a:txBody>
                  <a:tcPr/>
                </a:tc>
              </a:tr>
              <a:tr h="60960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Resta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20 - 8 = 12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Multiplicación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6 * 7 = 42</a:t>
                      </a:r>
                    </a:p>
                  </a:txBody>
                  <a:tcPr/>
                </a:tc>
              </a:tr>
              <a:tr h="60960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/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División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15 / 3 = 5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Módulo (resto)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17 % 5 = 2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Operadores Lógicos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0" y="1828800"/>
          <a:ext cx="73152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8400"/>
                <a:gridCol w="2438400"/>
                <a:gridCol w="2438400"/>
              </a:tblGrid>
              <a:tr h="522514"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Operador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Significado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Ejemplo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==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Igual 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edad == 18</a:t>
                      </a:r>
                    </a:p>
                  </a:txBody>
                  <a:tcPr/>
                </a:tc>
              </a:tr>
              <a:tr h="522514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!=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Diferente de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saldo != 0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Mayor que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precio &gt; 100</a:t>
                      </a:r>
                    </a:p>
                  </a:txBody>
                  <a:tcPr/>
                </a:tc>
              </a:tr>
              <a:tr h="522514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&gt;=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Mayor o igual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edad &gt;= 18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&lt;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Menor que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stock &lt; 10</a:t>
                      </a:r>
                    </a:p>
                  </a:txBody>
                  <a:tcPr/>
                </a:tc>
              </a:tr>
              <a:tr h="522516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&lt;=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Menor o igual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nota &lt;= 7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Expresiones vs. Sentencias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0" y="1828800"/>
          <a:ext cx="73152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</a:tblGrid>
              <a:tr h="731520"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Expresión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Sentencia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Tiene un valor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Ejecuta una acción</a:t>
                      </a:r>
                    </a:p>
                  </a:txBody>
                  <a:tcPr/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5 + 3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x = 5 + 3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precio * 1.19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print(mensaje)</a:t>
                      </a:r>
                    </a:p>
                  </a:txBody>
                  <a:tcPr/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edad &gt;= 18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if edad &gt;= 18: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Ejemplo Práctico: Cálculo de IVA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1600"/>
              <a:t>❓ </a:t>
            </a:r>
            <a:r>
              <a:rPr sz="1600" i="1">
                <a:solidFill>
                  <a:srgbClr val="E74C3C"/>
                </a:solidFill>
              </a:rPr>
              <a:t>Calcular el precio total de un producto con IVA (19%)</a:t>
            </a:r>
          </a:p>
          <a:p>
            <a:r>
              <a:rPr sz="1600"/>
              <a:t>🔢 </a:t>
            </a:r>
            <a:r>
              <a:rPr sz="1600" i="1">
                <a:solidFill>
                  <a:srgbClr val="2980B9"/>
                </a:solidFill>
              </a:rPr>
              <a:t>precio_neto = 100000</a:t>
            </a:r>
          </a:p>
          <a:p>
            <a:r>
              <a:rPr sz="1600"/>
              <a:t>🔢 </a:t>
            </a:r>
            <a:r>
              <a:rPr sz="1600" i="1">
                <a:solidFill>
                  <a:srgbClr val="2980B9"/>
                </a:solidFill>
              </a:rPr>
              <a:t>iva = precio_neto * 0.19 = 19000</a:t>
            </a:r>
          </a:p>
          <a:p>
            <a:r>
              <a:rPr sz="1600"/>
              <a:t>🔢 </a:t>
            </a:r>
            <a:r>
              <a:rPr sz="1600" i="1">
                <a:solidFill>
                  <a:srgbClr val="2980B9"/>
                </a:solidFill>
              </a:rPr>
              <a:t>precio_total = precio_neto + iva = 119000</a:t>
            </a:r>
          </a:p>
          <a:p>
            <a:r>
              <a:rPr sz="1600"/>
              <a:t>📝 </a:t>
            </a:r>
            <a:r>
              <a:rPr sz="1600" i="1">
                <a:solidFill>
                  <a:srgbClr val="2ECC71"/>
                </a:solidFill>
              </a:rPr>
              <a:t>precio_neto = 100000
precio_total = precio_neto * 1.19
# Resultado: 119000
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Control de Flujo: IF/ELSE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1600"/>
              <a:t>💡 </a:t>
            </a:r>
            <a:r>
              <a:rPr sz="1600" i="1">
                <a:solidFill>
                  <a:srgbClr val="F1C40F"/>
                </a:solidFill>
              </a:rPr>
              <a:t>¡La computadora puede tomar decisiones! 🤖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IF = Si se cumple una condición, ejecuta un bloque de código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ELSE = Si no, ejecuta otro bloque</a:t>
            </a:r>
          </a:p>
          <a:p>
            <a:r>
              <a:rPr sz="1600"/>
              <a:t>📝 </a:t>
            </a:r>
            <a:r>
              <a:rPr sz="1600" i="1">
                <a:solidFill>
                  <a:srgbClr val="2ECC71"/>
                </a:solidFill>
              </a:rPr>
              <a:t>if saldo &gt;= costo:
    aprobar_transaccion()
    restar_saldo(costo)
else:
    rechazar_transaccion()
    mostrar_error("Saldo insuficiente")
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Ejemplo: Validación de Transacción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1600"/>
              <a:t>❓ </a:t>
            </a:r>
            <a:r>
              <a:rPr sz="1600" i="1">
                <a:solidFill>
                  <a:srgbClr val="E74C3C"/>
                </a:solidFill>
              </a:rPr>
              <a:t>Aprobar o rechazar una compra según el saldo disponible</a:t>
            </a:r>
          </a:p>
          <a:p>
            <a:r>
              <a:rPr sz="1600"/>
              <a:t>📝 </a:t>
            </a:r>
            <a:r>
              <a:rPr sz="1600" i="1">
                <a:solidFill>
                  <a:srgbClr val="2ECC71"/>
                </a:solidFill>
              </a:rPr>
              <a:t>saldo = 50000
precio_producto = 30000
if saldo &gt;= precio_producto:
    print("Compra aprobada")
    saldo = saldo - precio_producto
    print("Nuevo saldo:", saldo)
else:
    print("Saldo insuficiente")
</a:t>
            </a:r>
          </a:p>
          <a:p>
            <a:r>
              <a:rPr sz="1600"/>
              <a:t>🔢 </a:t>
            </a:r>
            <a:r>
              <a:rPr sz="1600" i="1">
                <a:solidFill>
                  <a:srgbClr val="2980B9"/>
                </a:solidFill>
              </a:rPr>
              <a:t>Resultado: Compra aprobada. Nuevo saldo: 20000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Operadores Lógicos: AND, OR, NOT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0" y="1828800"/>
          <a:ext cx="73152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8400"/>
                <a:gridCol w="2438400"/>
                <a:gridCol w="2438400"/>
              </a:tblGrid>
              <a:tr h="914400"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Operador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Uso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Ejemplo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Ambas condiciones verdaderas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edad &gt;= 18 AND tiene_licencia</a:t>
                      </a:r>
                    </a:p>
                  </a:txBody>
                  <a:tcPr/>
                </a:tc>
              </a:tr>
              <a:tr h="91440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OR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Al menos una verdadera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pago_efectivo OR pago_tarjeta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NOT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Niega la condición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NOT usuario_bloqueado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Estructuras SWITCH/MATCH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800">
                <a:solidFill>
                  <a:srgbClr val="2C3E50"/>
                </a:solidFill>
              </a:defRPr>
            </a:pPr>
            <a:r>
              <a:t>Para elegir entre múltiples opciones</a:t>
            </a:r>
          </a:p>
          <a:p>
            <a:r>
              <a:rPr sz="1600"/>
              <a:t>📝 </a:t>
            </a:r>
            <a:r>
              <a:rPr sz="1600" i="1">
                <a:solidFill>
                  <a:srgbClr val="2ECC71"/>
                </a:solidFill>
              </a:rPr>
              <a:t>Menú de opciones en un ERP:</a:t>
            </a:r>
          </a:p>
          <a:p>
            <a:r>
              <a:rPr sz="1600"/>
              <a:t>🔢 </a:t>
            </a:r>
            <a:r>
              <a:rPr sz="1600" i="1">
                <a:solidFill>
                  <a:srgbClr val="2980B9"/>
                </a:solidFill>
              </a:rPr>
              <a:t>opcion = 2
match opcion:
    case 1: crear_factura()
    case 2: consultar_saldo()
    case 3: generar_reporte()
    case _: print("Opcion invalida")
</a:t>
            </a:r>
          </a:p>
          <a:p>
            <a:r>
              <a:rPr sz="1600"/>
              <a:t>💡 </a:t>
            </a:r>
            <a:r>
              <a:rPr sz="1600" i="1">
                <a:solidFill>
                  <a:srgbClr val="F1C40F"/>
                </a:solidFill>
              </a:rPr>
              <a:t>Más limpio que múltiples IF/ELIF cuando hay muchas opciones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Ciclos: WHILE (Mientras)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1600"/>
              <a:t>💡 </a:t>
            </a:r>
            <a:r>
              <a:rPr sz="1600" i="1">
                <a:solidFill>
                  <a:srgbClr val="F1C40F"/>
                </a:solidFill>
              </a:rPr>
              <a:t>¡Repetir código mientras se cumpla una condición! 🔄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Se usa cuando no sabemos cuántas veces repetir</a:t>
            </a:r>
          </a:p>
          <a:p>
            <a:r>
              <a:rPr sz="1600"/>
              <a:t>📝 </a:t>
            </a:r>
            <a:r>
              <a:rPr sz="1600" i="1">
                <a:solidFill>
                  <a:srgbClr val="2ECC71"/>
                </a:solidFill>
              </a:rPr>
              <a:t>intentos = 0
conectado = False
while not conectado and intentos &lt; 5:
    conectado = intentar_conexion()
    intentos = intentos + 1
if conectado:
    print("Conexion exitosa")
else:
    print("Error de conexion")
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Ciclos: FOR (Para Cada)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800">
                <a:solidFill>
                  <a:srgbClr val="2C3E50"/>
                </a:solidFill>
              </a:defRPr>
            </a:pPr>
            <a:r>
              <a:t>Se usa cuando sabemos cuántas veces repetir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Ideal para recorrer listas de datos</a:t>
            </a:r>
          </a:p>
          <a:p>
            <a:r>
              <a:rPr sz="1600"/>
              <a:t>📝 </a:t>
            </a:r>
            <a:r>
              <a:rPr sz="1600" i="1">
                <a:solidFill>
                  <a:srgbClr val="2ECC71"/>
                </a:solidFill>
              </a:rPr>
              <a:t>Pagar nómina a todos los empleados:</a:t>
            </a:r>
          </a:p>
          <a:p>
            <a:r>
              <a:rPr sz="1600"/>
              <a:t>🔢 </a:t>
            </a:r>
            <a:r>
              <a:rPr sz="1600" i="1">
                <a:solidFill>
                  <a:srgbClr val="2980B9"/>
                </a:solidFill>
              </a:rPr>
              <a:t>empleados = ["Ana", "Juan", "Maria", "Pedro"]
for empleado in empleados:
    procesar_pago(empleado)
    enviar_comprobante(empleado)
    print("Pago a", empleado, "OK")
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Ejemplo Práctico: Calcular Total de Ventas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1600"/>
              <a:t>❓ </a:t>
            </a:r>
            <a:r>
              <a:rPr sz="1600" i="1">
                <a:solidFill>
                  <a:srgbClr val="E74C3C"/>
                </a:solidFill>
              </a:rPr>
              <a:t>Sumar todas las ventas del día</a:t>
            </a:r>
          </a:p>
          <a:p>
            <a:r>
              <a:rPr sz="1600"/>
              <a:t>📝 </a:t>
            </a:r>
            <a:r>
              <a:rPr sz="1600" i="1">
                <a:solidFill>
                  <a:srgbClr val="2ECC71"/>
                </a:solidFill>
              </a:rPr>
              <a:t>ventas = [15000, 23000, 8500, 12000, 31000]
total = 0
for venta in ventas:
    total = total + venta
print("Total del día:", total)
</a:t>
            </a:r>
          </a:p>
          <a:p>
            <a:r>
              <a:rPr sz="1600"/>
              <a:t>🔢 </a:t>
            </a:r>
            <a:r>
              <a:rPr sz="1600" i="1">
                <a:solidFill>
                  <a:srgbClr val="2980B9"/>
                </a:solidFill>
              </a:rPr>
              <a:t>Resultado: Total del día: 89500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Prevención de Bucles Infinitos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1600"/>
              <a:t>💡 </a:t>
            </a:r>
            <a:r>
              <a:rPr sz="1600" i="1">
                <a:solidFill>
                  <a:srgbClr val="F1C40F"/>
                </a:solidFill>
              </a:rPr>
              <a:t>⚠️ ¡Cuidado con los bucles que nunca terminan!</a:t>
            </a:r>
          </a:p>
          <a:p>
            <a:r>
              <a:rPr sz="1600"/>
              <a:t>📝 </a:t>
            </a:r>
            <a:r>
              <a:rPr sz="1600" i="1">
                <a:solidFill>
                  <a:srgbClr val="2ECC71"/>
                </a:solidFill>
              </a:rPr>
              <a:t>Bucle infinito (ERROR):</a:t>
            </a:r>
          </a:p>
          <a:p>
            <a:r>
              <a:rPr sz="1600"/>
              <a:t>🔢 </a:t>
            </a:r>
            <a:r>
              <a:rPr sz="1600" i="1">
                <a:solidFill>
                  <a:srgbClr val="2980B9"/>
                </a:solidFill>
              </a:rPr>
              <a:t>contador = 0
while contador &lt; 10:
    print("Hola")
    # Olvidamos incrementar contador!
    # Este bucle NUNCA termina
</a:t>
            </a:r>
          </a:p>
          <a:p>
            <a:r>
              <a:rPr sz="1600"/>
              <a:t>📝 </a:t>
            </a:r>
            <a:r>
              <a:rPr sz="1600" i="1">
                <a:solidFill>
                  <a:srgbClr val="2ECC71"/>
                </a:solidFill>
              </a:rPr>
              <a:t>Bucle correcto:</a:t>
            </a:r>
          </a:p>
          <a:p>
            <a:r>
              <a:rPr sz="1600"/>
              <a:t>🔢 </a:t>
            </a:r>
            <a:r>
              <a:rPr sz="1600" i="1">
                <a:solidFill>
                  <a:srgbClr val="2980B9"/>
                </a:solidFill>
              </a:rPr>
              <a:t>contador = 0
while contador &lt; 10:
    print("Hola")
    contador = contador + 1  # Se incrementa
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¡Tu Turno de Practicar! 💪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1600"/>
              <a:t>❓ </a:t>
            </a:r>
            <a:r>
              <a:rPr sz="1600" i="1">
                <a:solidFill>
                  <a:srgbClr val="E74C3C"/>
                </a:solidFill>
              </a:rPr>
              <a:t>Crear un programa que valide un descuento especial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Condiciones: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  • Si la compra es mayor a $100.000 → 10% de descuento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  • Si además es cliente VIP → 15% de descuento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  • Calcular el precio final</a:t>
            </a:r>
          </a:p>
          <a:p>
            <a:r>
              <a:rPr sz="1600"/>
              <a:t>💡 </a:t>
            </a:r>
            <a:r>
              <a:rPr sz="1600" i="1">
                <a:solidFill>
                  <a:srgbClr val="F1C40F"/>
                </a:solidFill>
              </a:rPr>
              <a:t>Usa IF/ELSE y operadores AND para resolverlo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¡Resumen de lo Aprendido! 🎓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800">
                <a:solidFill>
                  <a:srgbClr val="2C3E50"/>
                </a:solidFill>
              </a:defRPr>
            </a:pPr>
            <a:r>
              <a:t>✅ Variables guardan datos en memoria (como cajas etiquetadas)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✅ Tipos de datos: Enteros, Flotantes, Textos, Booleanos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✅ Operadores aritméticos para cálculos (+, -, *, /, %)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✅ Operadores lógicos para comparaciones (==, !=, &gt;, &lt;, &gt;=, &lt;=)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✅ IF/ELSE permite tomar decisiones en el código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✅ WHILE repite mientras se cumpla una condición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✅ FOR recorre listas y repite un número fijo de veces</a:t>
            </a:r>
          </a:p>
          <a:p>
            <a:r>
              <a:rPr sz="1600"/>
              <a:t>💡 </a:t>
            </a:r>
            <a:r>
              <a:rPr sz="1600" i="1">
                <a:solidFill>
                  <a:srgbClr val="F1C40F"/>
                </a:solidFill>
              </a:rPr>
              <a:t>¡Con estos fundamentos ya puedes crear programas reales! 🚀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