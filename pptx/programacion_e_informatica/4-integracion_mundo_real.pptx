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980B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Integración y Mundo Real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84048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FFFFFF"/>
                </a:solidFill>
              </a:defRPr>
            </a:pPr>
            <a:r>
              <a:t>Conectando sistemas y desplegando aplicaciones 🌐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980B9"/>
                </a:solidFill>
              </a:defRPr>
            </a:pPr>
            <a:r>
              <a:t>¿Qué vamos a aprender?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8229600" cy="0"/>
          </a:xfrm>
          <a:prstGeom prst="rect">
            <a:avLst/>
          </a:prstGeom>
          <a:ln w="381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sz="1600"/>
              <a:t>💡 </a:t>
            </a:r>
            <a:r>
              <a:rPr sz="1600" i="1">
                <a:solidFill>
                  <a:srgbClr val="F1C40F"/>
                </a:solidFill>
              </a:rPr>
              <a:t>¡Hoy conectamos nuestro código con el mundo real! 🚀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Objetivo 1: Entender qué son las APIs y cómo funcionan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Objetivo 2: Conocer los verbos HTTP (GET, POST, PUT, DELETE)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Objetivo 3: Aprender sobre autenticación y seguridad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Objetivo 4: Comprender el ciclo de vida del software</a:t>
            </a:r>
          </a:p>
          <a:p>
            <a:r>
              <a:rPr sz="1600"/>
              <a:t>📝 </a:t>
            </a:r>
            <a:r>
              <a:rPr sz="1600" i="1">
                <a:solidFill>
                  <a:srgbClr val="2ECC71"/>
                </a:solidFill>
              </a:rPr>
              <a:t>Como conectar piezas de LEGO: cada API es una pieza que encaja con otras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980B9"/>
                </a:solidFill>
              </a:defRPr>
            </a:pPr>
            <a:r>
              <a:t>¿Qué es una API?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8229600" cy="0"/>
          </a:xfrm>
          <a:prstGeom prst="rect">
            <a:avLst/>
          </a:prstGeom>
          <a:ln w="381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sz="1600"/>
              <a:t>💡 </a:t>
            </a:r>
            <a:r>
              <a:rPr sz="1600" i="1">
                <a:solidFill>
                  <a:srgbClr val="F1C40F"/>
                </a:solidFill>
              </a:rPr>
              <a:t>Application Programming Interface (Interfaz de Programación) 🔌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Es un 'contrato' que define cómo comunicarse con un sistema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Permite que diferentes aplicaciones hablen entre sí</a:t>
            </a:r>
          </a:p>
          <a:p>
            <a:r>
              <a:rPr sz="1600"/>
              <a:t>📝 </a:t>
            </a:r>
            <a:r>
              <a:rPr sz="1600" i="1">
                <a:solidFill>
                  <a:srgbClr val="2ECC71"/>
                </a:solidFill>
              </a:rPr>
              <a:t>Como un menú de restaurant: lista lo que puedes pedir y cómo pedirlo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Tu app pide datos → API procesa → API responde</a:t>
            </a:r>
          </a:p>
          <a:p>
            <a:r>
              <a:rPr sz="1600"/>
              <a:t>🔢 </a:t>
            </a:r>
            <a:r>
              <a:rPr sz="1600" i="1">
                <a:solidFill>
                  <a:srgbClr val="2980B9"/>
                </a:solidFill>
              </a:rPr>
              <a:t>Ejemplo: App del clima pide temperatura → API responde '22°C'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980B9"/>
                </a:solidFill>
              </a:defRPr>
            </a:pPr>
            <a:r>
              <a:t>REST: El Estándar de las APIs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8229600" cy="0"/>
          </a:xfrm>
          <a:prstGeom prst="rect">
            <a:avLst/>
          </a:prstGeom>
          <a:ln w="381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800">
                <a:solidFill>
                  <a:srgbClr val="2C3E50"/>
                </a:solidFill>
              </a:defRPr>
            </a:pPr>
            <a:r>
              <a:t>REST = Representational State Transfer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Es un estilo arquitectónico para crear APIs web</a:t>
            </a:r>
          </a:p>
          <a:p>
            <a:r>
              <a:rPr sz="1600"/>
              <a:t>💡 </a:t>
            </a:r>
            <a:r>
              <a:rPr sz="1600" i="1">
                <a:solidFill>
                  <a:srgbClr val="F1C40F"/>
                </a:solidFill>
              </a:rPr>
              <a:t>Principios de REST: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✅ Cliente-Servidor separados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✅ Sin estado (cada petición es independiente)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✅ URLs representan recursos</a:t>
            </a:r>
          </a:p>
          <a:p>
            <a:r>
              <a:rPr sz="1600"/>
              <a:t>📝 </a:t>
            </a:r>
            <a:r>
              <a:rPr sz="1600" i="1">
                <a:solidFill>
                  <a:srgbClr val="2ECC71"/>
                </a:solidFill>
              </a:rPr>
              <a:t>/api/usuarios → Lista de usuarios
/api/usuarios/123 → Usuario con ID 123
/api/facturas → Lista de facturas
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980B9"/>
                </a:solidFill>
              </a:defRPr>
            </a:pPr>
            <a:r>
              <a:t>Verbos HTTP: Acciones sobre Recursos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8229600" cy="0"/>
          </a:xfrm>
          <a:prstGeom prst="rect">
            <a:avLst/>
          </a:prstGeom>
          <a:ln w="381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914400" y="1828800"/>
          <a:ext cx="73152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38400"/>
                <a:gridCol w="2438400"/>
                <a:gridCol w="2438400"/>
              </a:tblGrid>
              <a:tr h="731520"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Verbo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Acción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Ejemplo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Leer/Consultar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Consultar saldo</a:t>
                      </a:r>
                    </a:p>
                  </a:txBody>
                  <a:tcPr/>
                </a:tc>
              </a:tr>
              <a:tr h="731520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POST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Crear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Crear nueva empresa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Actualizar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Actualizar datos de usuario</a:t>
                      </a:r>
                    </a:p>
                  </a:txBody>
                  <a:tcPr/>
                </a:tc>
              </a:tr>
              <a:tr h="731520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DELETE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Eliminar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Borrar factura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980B9"/>
                </a:solidFill>
              </a:defRPr>
            </a:pPr>
            <a:r>
              <a:t>Ejemplo: Petición GET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8229600" cy="0"/>
          </a:xfrm>
          <a:prstGeom prst="rect">
            <a:avLst/>
          </a:prstGeom>
          <a:ln w="381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sz="1600"/>
              <a:t>❓ </a:t>
            </a:r>
            <a:r>
              <a:rPr sz="1600" i="1">
                <a:solidFill>
                  <a:srgbClr val="E74C3C"/>
                </a:solidFill>
              </a:rPr>
              <a:t>Consultar el saldo de una billetera digital</a:t>
            </a:r>
          </a:p>
          <a:p>
            <a:r>
              <a:rPr sz="1600"/>
              <a:t>📝 </a:t>
            </a:r>
            <a:r>
              <a:rPr sz="1600" i="1">
                <a:solidFill>
                  <a:srgbClr val="2ECC71"/>
                </a:solidFill>
              </a:rPr>
              <a:t>Petición:
GET /api/billeteras/12345/saldo
Respuesta (JSON):
{
  "billetera_id": 12345,
  "propietario": "Juan Pérez",
  "saldo": 150000,
  "moneda": "CLP"
}
</a:t>
            </a:r>
          </a:p>
          <a:p>
            <a:r>
              <a:rPr sz="1600"/>
              <a:t>💡 </a:t>
            </a:r>
            <a:r>
              <a:rPr sz="1600" i="1">
                <a:solidFill>
                  <a:srgbClr val="F1C40F"/>
                </a:solidFill>
              </a:rPr>
              <a:t>GET solo lee datos, nunca los modifica ✅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980B9"/>
                </a:solidFill>
              </a:defRPr>
            </a:pPr>
            <a:r>
              <a:t>Ejemplo: Petición POST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8229600" cy="0"/>
          </a:xfrm>
          <a:prstGeom prst="rect">
            <a:avLst/>
          </a:prstGeom>
          <a:ln w="381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sz="1600"/>
              <a:t>❓ </a:t>
            </a:r>
            <a:r>
              <a:rPr sz="1600" i="1">
                <a:solidFill>
                  <a:srgbClr val="E74C3C"/>
                </a:solidFill>
              </a:rPr>
              <a:t>Crear una nueva empresa en el sistema</a:t>
            </a:r>
          </a:p>
          <a:p>
            <a:r>
              <a:rPr sz="1600"/>
              <a:t>📝 </a:t>
            </a:r>
            <a:r>
              <a:rPr sz="1600" i="1">
                <a:solidFill>
                  <a:srgbClr val="2ECC71"/>
                </a:solidFill>
              </a:rPr>
              <a:t>Petición:
POST /api/empresas
Body (JSON):
{
  "nombre": "Tech Solutions S.A.",
  "rut": "76.123.456-7",
  "email": "contacto@techsolutions.cl"
}
Respuesta:
{
  "id": 789,
  "nombre": "Tech Solutions S.A.",
  "mensaje": "Empresa creada exitosamente"
}
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980B9"/>
                </a:solidFill>
              </a:defRPr>
            </a:pPr>
            <a:r>
              <a:t>Ejemplos: PUT y DELETE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8229600" cy="0"/>
          </a:xfrm>
          <a:prstGeom prst="rect">
            <a:avLst/>
          </a:prstGeom>
          <a:ln w="381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sz="1600"/>
              <a:t>📝 </a:t>
            </a:r>
            <a:r>
              <a:rPr sz="1600" i="1">
                <a:solidFill>
                  <a:srgbClr val="2ECC71"/>
                </a:solidFill>
              </a:rPr>
              <a:t>Actualizar email de un usuario (PUT):</a:t>
            </a:r>
          </a:p>
          <a:p>
            <a:r>
              <a:rPr sz="1600"/>
              <a:t>🔢 </a:t>
            </a:r>
            <a:r>
              <a:rPr sz="1600" i="1">
                <a:solidFill>
                  <a:srgbClr val="2980B9"/>
                </a:solidFill>
              </a:rPr>
              <a:t>PUT /api/usuarios/123
Body: {"email": "nuevo@email.com"}
Respuesta: {"mensaje": "Usuario actualizado"}
</a:t>
            </a:r>
          </a:p>
          <a:p>
            <a:r>
              <a:rPr sz="1600"/>
              <a:t>📝 </a:t>
            </a:r>
            <a:r>
              <a:rPr sz="1600" i="1">
                <a:solidFill>
                  <a:srgbClr val="2ECC71"/>
                </a:solidFill>
              </a:rPr>
              <a:t>Eliminar una factura (DELETE):</a:t>
            </a:r>
          </a:p>
          <a:p>
            <a:r>
              <a:rPr sz="1600"/>
              <a:t>🔢 </a:t>
            </a:r>
            <a:r>
              <a:rPr sz="1600" i="1">
                <a:solidFill>
                  <a:srgbClr val="2980B9"/>
                </a:solidFill>
              </a:rPr>
              <a:t>DELETE /api/facturas/456
Respuesta: {"mensaje": "Factura eliminada"}
</a:t>
            </a:r>
          </a:p>
          <a:p>
            <a:r>
              <a:rPr sz="1600"/>
              <a:t>💡 </a:t>
            </a:r>
            <a:r>
              <a:rPr sz="1600" i="1">
                <a:solidFill>
                  <a:srgbClr val="F1C40F"/>
                </a:solidFill>
              </a:rPr>
              <a:t>PUT modifica recursos existentes, DELETE los elimina permanentemente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980B9"/>
                </a:solidFill>
              </a:defRPr>
            </a:pPr>
            <a:r>
              <a:t>Autenticación y Seguridad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8229600" cy="0"/>
          </a:xfrm>
          <a:prstGeom prst="rect">
            <a:avLst/>
          </a:prstGeom>
          <a:ln w="381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914400" y="1828800"/>
          <a:ext cx="73152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38400"/>
                <a:gridCol w="2438400"/>
                <a:gridCol w="2438400"/>
              </a:tblGrid>
              <a:tr h="731520"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Método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Descripción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Seguridad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Usuario/Contraseña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Login tradicional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⭐⭐</a:t>
                      </a:r>
                    </a:p>
                  </a:txBody>
                  <a:tcPr/>
                </a:tc>
              </a:tr>
              <a:tr h="731520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Tokens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Código temporal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⭐⭐⭐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JWT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Token con información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⭐⭐⭐⭐</a:t>
                      </a:r>
                    </a:p>
                  </a:txBody>
                  <a:tcPr/>
                </a:tc>
              </a:tr>
              <a:tr h="731520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OAuth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Login con Google/Facebook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⭐⭐⭐⭐⭐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980B9"/>
                </a:solidFill>
              </a:defRPr>
            </a:pPr>
            <a:r>
              <a:t>Autenticación con Tokens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8229600" cy="0"/>
          </a:xfrm>
          <a:prstGeom prst="rect">
            <a:avLst/>
          </a:prstGeom>
          <a:ln w="381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sz="1600"/>
              <a:t>💡 </a:t>
            </a:r>
            <a:r>
              <a:rPr sz="1600" i="1">
                <a:solidFill>
                  <a:srgbClr val="F1C40F"/>
                </a:solidFill>
              </a:rPr>
              <a:t>Como una pulsera de evento: la muestras para entrar 🎟️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1️⃣ Usuario hace login con usuario/contraseña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2️⃣ Servidor valida credenciales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3️⃣ Servidor genera un token único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4️⃣ Cliente guarda el token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5️⃣ Cada petición incluye el token en el header</a:t>
            </a:r>
          </a:p>
          <a:p>
            <a:r>
              <a:rPr sz="1600"/>
              <a:t>📝 </a:t>
            </a:r>
            <a:r>
              <a:rPr sz="1600" i="1">
                <a:solidFill>
                  <a:srgbClr val="2ECC71"/>
                </a:solidFill>
              </a:rPr>
              <a:t>Authorization: Bearer eyJhbGciOiJIUzI1NiIsInR5cCI6IkpXVCJ9...
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El token expira después de cierto tiempo ⏱️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980B9"/>
                </a:solidFill>
              </a:defRPr>
            </a:pPr>
            <a:r>
              <a:t>JWT: JSON Web Token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8229600" cy="0"/>
          </a:xfrm>
          <a:prstGeom prst="rect">
            <a:avLst/>
          </a:prstGeom>
          <a:ln w="381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800">
                <a:solidFill>
                  <a:srgbClr val="2C3E50"/>
                </a:solidFill>
              </a:defRPr>
            </a:pPr>
            <a:r>
              <a:t>Token que contiene información codificada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Estructura: Header.Payload.Signature</a:t>
            </a:r>
          </a:p>
          <a:p>
            <a:r>
              <a:rPr sz="1600"/>
              <a:t>📝 </a:t>
            </a:r>
            <a:r>
              <a:rPr sz="1600" i="1">
                <a:solidFill>
                  <a:srgbClr val="2ECC71"/>
                </a:solidFill>
              </a:rPr>
              <a:t>Payload (decodificado):
{
  "usuario_id": 123,
  "email": "juan@email.com",
  "rol": "admin",
  "exp": 1700000000
}
</a:t>
            </a:r>
          </a:p>
          <a:p>
            <a:r>
              <a:rPr sz="1600"/>
              <a:t>💡 </a:t>
            </a:r>
            <a:r>
              <a:rPr sz="1600" i="1">
                <a:solidFill>
                  <a:srgbClr val="F1C40F"/>
                </a:solidFill>
              </a:rPr>
              <a:t>La firma garantiza que el token no fue modificado 🛡️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Servidor verifica la firma antes de confiar en el token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980B9"/>
                </a:solidFill>
              </a:defRPr>
            </a:pPr>
            <a:r>
              <a:t>Consumo de APIs Externas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8229600" cy="0"/>
          </a:xfrm>
          <a:prstGeom prst="rect">
            <a:avLst/>
          </a:prstGeom>
          <a:ln w="381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sz="1600"/>
              <a:t>❓ </a:t>
            </a:r>
            <a:r>
              <a:rPr sz="1600" i="1">
                <a:solidFill>
                  <a:srgbClr val="E74C3C"/>
                </a:solidFill>
              </a:rPr>
              <a:t>Integrar con servicios de impuestos del SII (Chile)</a:t>
            </a:r>
          </a:p>
          <a:p>
            <a:r>
              <a:rPr sz="1600"/>
              <a:t>📝 </a:t>
            </a:r>
            <a:r>
              <a:rPr sz="1600" i="1">
                <a:solidFill>
                  <a:srgbClr val="2ECC71"/>
                </a:solidFill>
              </a:rPr>
              <a:t>import requests
# Consultar datos de empresa por RUT
rut = "76.123.456-7"
url = f"https://api.sii.cl/empresas/{rut}"
headers = {"Authorization": "Bearer tu_token_aqui"}
response = requests.get(url, headers=headers)
if response.status_code == 200:
    datos = response.json()
    print("Razon Social:", datos["razon_social"])
else:
    print("Error:", response.status_code)
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980B9"/>
                </a:solidFill>
              </a:defRPr>
            </a:pPr>
            <a:r>
              <a:t>Ejemplo: Integración con Banco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8229600" cy="0"/>
          </a:xfrm>
          <a:prstGeom prst="rect">
            <a:avLst/>
          </a:prstGeom>
          <a:ln w="381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sz="1600"/>
              <a:t>❓ </a:t>
            </a:r>
            <a:r>
              <a:rPr sz="1600" i="1">
                <a:solidFill>
                  <a:srgbClr val="E74C3C"/>
                </a:solidFill>
              </a:rPr>
              <a:t>Procesar pago con tarjeta de crédito</a:t>
            </a:r>
          </a:p>
          <a:p>
            <a:r>
              <a:rPr sz="1600"/>
              <a:t>📝 </a:t>
            </a:r>
            <a:r>
              <a:rPr sz="1600" i="1">
                <a:solidFill>
                  <a:srgbClr val="2ECC71"/>
                </a:solidFill>
              </a:rPr>
              <a:t># API del banco procesador
POST /api/pagos
Body:
{
  "monto": 50000,
  "tarjeta": {
    "numero": "4532-****-****-1234",
    "cvv": "***",
    "expiracion": "12/25"
  },
  "descripcion": "Compra en tienda online"
}
Respuesta:
{
  "transaccion_id": "TXN789456",
  "estado": "aprobado",
  "fecha": "2024-11-25T14:30:00Z"
}
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980B9"/>
                </a:solidFill>
              </a:defRPr>
            </a:pPr>
            <a:r>
              <a:t>Ciclo de Vida del Software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8229600" cy="0"/>
          </a:xfrm>
          <a:prstGeom prst="rect">
            <a:avLst/>
          </a:prstGeom>
          <a:ln w="381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sz="1600"/>
              <a:t>💡 </a:t>
            </a:r>
            <a:r>
              <a:rPr sz="1600" i="1">
                <a:solidFill>
                  <a:srgbClr val="F1C40F"/>
                </a:solidFill>
              </a:rPr>
              <a:t>El viaje del código desde la idea hasta producción 🛤️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📝 1. Planificación: Definir qué construir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💻 2. Desarrollo: Escribir el código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🧪 3. Testing: Probar que funcione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🚀 4. Despliegue: Publicar en internet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🔧 5. Mantenimiento: Corregir bugs y agregar features</a:t>
            </a:r>
          </a:p>
          <a:p>
            <a:r>
              <a:rPr sz="1600"/>
              <a:t>📝 </a:t>
            </a:r>
            <a:r>
              <a:rPr sz="1600" i="1">
                <a:solidFill>
                  <a:srgbClr val="2ECC71"/>
                </a:solidFill>
              </a:rPr>
              <a:t>Es un ciclo continuo, no un proceso lineal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980B9"/>
                </a:solidFill>
              </a:defRPr>
            </a:pPr>
            <a:r>
              <a:t>Control de Versiones: Git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8229600" cy="0"/>
          </a:xfrm>
          <a:prstGeom prst="rect">
            <a:avLst/>
          </a:prstGeom>
          <a:ln w="381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914400" y="1828800"/>
          <a:ext cx="73152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</a:tblGrid>
              <a:tr h="609600"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Comando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Acción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git init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Iniciar repositorio</a:t>
                      </a:r>
                    </a:p>
                  </a:txBody>
                  <a:tcPr/>
                </a:tc>
              </a:tr>
              <a:tr h="609600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git add .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Preparar cambios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git commit -m 'mensaje'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Guardar cambios</a:t>
                      </a:r>
                    </a:p>
                  </a:txBody>
                  <a:tcPr/>
                </a:tc>
              </a:tr>
              <a:tr h="609600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git push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Subir a servidor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git pull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Descargar cambios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980B9"/>
                </a:solidFill>
              </a:defRPr>
            </a:pPr>
            <a:r>
              <a:t>Branching: Trabajar en Paralelo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8229600" cy="0"/>
          </a:xfrm>
          <a:prstGeom prst="rect">
            <a:avLst/>
          </a:prstGeom>
          <a:ln w="381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800">
                <a:solidFill>
                  <a:srgbClr val="2C3E50"/>
                </a:solidFill>
              </a:defRPr>
            </a:pPr>
            <a:r>
              <a:t>Ramas (branches) permiten trabajar en features sin afectar el código principal</a:t>
            </a:r>
          </a:p>
          <a:p>
            <a:r>
              <a:rPr sz="1600"/>
              <a:t>📝 </a:t>
            </a:r>
            <a:r>
              <a:rPr sz="1600" i="1">
                <a:solidFill>
                  <a:srgbClr val="2ECC71"/>
                </a:solidFill>
              </a:rPr>
              <a:t>main (producción) ────────────●──────────●───→
                              ↑          ↑
feature-login ──●──●──●──●──●┘          │
feature-pagos ──●──●──●──●──●──────────┘
</a:t>
            </a:r>
          </a:p>
          <a:p>
            <a:r>
              <a:rPr sz="1600"/>
              <a:t>💡 </a:t>
            </a:r>
            <a:r>
              <a:rPr sz="1600" i="1">
                <a:solidFill>
                  <a:srgbClr val="F1C40F"/>
                </a:solidFill>
              </a:rPr>
              <a:t>Desarrollas en tu rama, luego haces merge a main cuando está listo ✅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Evita conflictos cuando varios desarrolladores trabajan juntos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980B9"/>
                </a:solidFill>
              </a:defRPr>
            </a:pPr>
            <a:r>
              <a:t>Testing: Asegurar la Calidad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8229600" cy="0"/>
          </a:xfrm>
          <a:prstGeom prst="rect">
            <a:avLst/>
          </a:prstGeom>
          <a:ln w="381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sz="1600"/>
              <a:t>💡 </a:t>
            </a:r>
            <a:r>
              <a:rPr sz="1600" i="1">
                <a:solidFill>
                  <a:srgbClr val="F1C40F"/>
                </a:solidFill>
              </a:rPr>
              <a:t>¡Probar antes de enviar a producción! 🧪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Pruebas Unitarias: Probar funciones individuales</a:t>
            </a:r>
          </a:p>
          <a:p>
            <a:r>
              <a:rPr sz="1600"/>
              <a:t>📝 </a:t>
            </a:r>
            <a:r>
              <a:rPr sz="1600" i="1">
                <a:solidFill>
                  <a:srgbClr val="2ECC71"/>
                </a:solidFill>
              </a:rPr>
              <a:t>def test_calcular_iva():
    precio = 100000
    resultado = calcular_iva(precio)
    assert resultado == 19000, "IVA incorrecto"
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Si el cálculo financiero está mal, ¡puede ser desastroso! 💸</a:t>
            </a:r>
          </a:p>
          <a:p>
            <a:r>
              <a:rPr sz="1600"/>
              <a:t>🔢 </a:t>
            </a:r>
            <a:r>
              <a:rPr sz="1600" i="1">
                <a:solidFill>
                  <a:srgbClr val="2980B9"/>
                </a:solidFill>
              </a:rPr>
              <a:t>Test aprobado ✅ → Código confiable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980B9"/>
                </a:solidFill>
              </a:defRPr>
            </a:pPr>
            <a:r>
              <a:t>Tipos de Testing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8229600" cy="0"/>
          </a:xfrm>
          <a:prstGeom prst="rect">
            <a:avLst/>
          </a:prstGeom>
          <a:ln w="381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914400" y="1828800"/>
          <a:ext cx="73152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38400"/>
                <a:gridCol w="2438400"/>
                <a:gridCol w="2438400"/>
              </a:tblGrid>
              <a:tr h="731520"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Tipo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Qué Prueba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Ejemplo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Unitarias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Funciones aisladas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test_calcular_iva()</a:t>
                      </a:r>
                    </a:p>
                  </a:txBody>
                  <a:tcPr/>
                </a:tc>
              </a:tr>
              <a:tr h="731520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Integración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Componentes juntos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API + Base de Datos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E2E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Flujo completo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Login → Compra → Pago</a:t>
                      </a:r>
                    </a:p>
                  </a:txBody>
                  <a:tcPr/>
                </a:tc>
              </a:tr>
              <a:tr h="731520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Carga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Rendimiento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10,000 usuarios simultáneos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980B9"/>
                </a:solidFill>
              </a:defRPr>
            </a:pPr>
            <a:r>
              <a:t>Despliegue: Publicar el ERP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8229600" cy="0"/>
          </a:xfrm>
          <a:prstGeom prst="rect">
            <a:avLst/>
          </a:prstGeom>
          <a:ln w="381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914400" y="1828800"/>
          <a:ext cx="73152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38400"/>
                <a:gridCol w="2438400"/>
                <a:gridCol w="2438400"/>
              </a:tblGrid>
              <a:tr h="731520"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Opción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Descripción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Ejemplo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Servidor Propio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Comprar y mantener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Data center físico</a:t>
                      </a:r>
                    </a:p>
                  </a:txBody>
                  <a:tcPr/>
                </a:tc>
              </a:tr>
              <a:tr h="731520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VPS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Servidor virtual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DigitalOcean, Linode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Cloud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Infraestructura escalable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AWS, Azure, GCP</a:t>
                      </a:r>
                    </a:p>
                  </a:txBody>
                  <a:tcPr/>
                </a:tc>
              </a:tr>
              <a:tr h="731520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PaaS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Plataforma gestionada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Heroku, Vercel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980B9"/>
                </a:solidFill>
              </a:defRPr>
            </a:pPr>
            <a:r>
              <a:t>CI/CD: Despliegue Continuo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8229600" cy="0"/>
          </a:xfrm>
          <a:prstGeom prst="rect">
            <a:avLst/>
          </a:prstGeom>
          <a:ln w="381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800">
                <a:solidFill>
                  <a:srgbClr val="2C3E50"/>
                </a:solidFill>
              </a:defRPr>
            </a:pPr>
            <a:r>
              <a:t>CI = Continuous Integration (Integración Continua)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CD = Continuous Deployment (Despliegue Continuo)</a:t>
            </a:r>
          </a:p>
          <a:p>
            <a:r>
              <a:rPr sz="1600"/>
              <a:t>📝 </a:t>
            </a:r>
            <a:r>
              <a:rPr sz="1600" i="1">
                <a:solidFill>
                  <a:srgbClr val="2ECC71"/>
                </a:solidFill>
              </a:rPr>
              <a:t>Flujo automatizado:</a:t>
            </a:r>
          </a:p>
          <a:p>
            <a:r>
              <a:rPr sz="1600"/>
              <a:t>🔢 </a:t>
            </a:r>
            <a:r>
              <a:rPr sz="1600" i="1">
                <a:solidFill>
                  <a:srgbClr val="2980B9"/>
                </a:solidFill>
              </a:rPr>
              <a:t>1. Desarrollador hace push a Git
2. CI ejecuta tests automaticamente
3. Si tests pasan, Build del proyecto
4. CD despliega a servidor
5. Aplicacion actualizada en minutos
</a:t>
            </a:r>
          </a:p>
          <a:p>
            <a:r>
              <a:rPr sz="1600"/>
              <a:t>💡 </a:t>
            </a:r>
            <a:r>
              <a:rPr sz="1600" i="1">
                <a:solidFill>
                  <a:srgbClr val="F1C40F"/>
                </a:solidFill>
              </a:rPr>
              <a:t>De código a producción sin intervención manual 🤖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980B9"/>
                </a:solidFill>
              </a:defRPr>
            </a:pPr>
            <a:r>
              <a:t>Monitoreo y Logs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8229600" cy="0"/>
          </a:xfrm>
          <a:prstGeom prst="rect">
            <a:avLst/>
          </a:prstGeom>
          <a:ln w="381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914400" y="1828800"/>
          <a:ext cx="73152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38400"/>
                <a:gridCol w="2438400"/>
                <a:gridCol w="2438400"/>
              </a:tblGrid>
              <a:tr h="731520"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Aspecto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Herramienta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Qué Monitorea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Logs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Elasticsearch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Errores y eventos</a:t>
                      </a:r>
                    </a:p>
                  </a:txBody>
                  <a:tcPr/>
                </a:tc>
              </a:tr>
              <a:tr h="731520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Performance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New Relic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Tiempo de respuesta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Uptime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Pingdom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¿Está funcionando?</a:t>
                      </a:r>
                    </a:p>
                  </a:txBody>
                  <a:tcPr/>
                </a:tc>
              </a:tr>
              <a:tr h="731520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Errores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Sentry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Crashes y excepciones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980B9"/>
                </a:solidFill>
              </a:defRPr>
            </a:pPr>
            <a:r>
              <a:t>¡Tu Turno de Practicar! 💪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8229600" cy="0"/>
          </a:xfrm>
          <a:prstGeom prst="rect">
            <a:avLst/>
          </a:prstGeom>
          <a:ln w="381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sz="1600"/>
              <a:t>❓ </a:t>
            </a:r>
            <a:r>
              <a:rPr sz="1600" i="1">
                <a:solidFill>
                  <a:srgbClr val="E74C3C"/>
                </a:solidFill>
              </a:rPr>
              <a:t>Diseñar una API REST para un sistema de biblioteca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Endpoints necesarios: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  • GET /api/libros → Listar todos los libros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  • GET /api/libros/:id → Obtener un libro específico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  • POST /api/libros → Agregar nuevo libro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  • PUT /api/libros/:id → Actualizar libro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  • DELETE /api/libros/:id → Eliminar libro</a:t>
            </a:r>
          </a:p>
          <a:p>
            <a:r>
              <a:rPr sz="1600"/>
              <a:t>💡 </a:t>
            </a:r>
            <a:r>
              <a:rPr sz="1600" i="1">
                <a:solidFill>
                  <a:srgbClr val="F1C40F"/>
                </a:solidFill>
              </a:rPr>
              <a:t>Define qué datos envía y recibe cada endpoint en formato JSON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980B9"/>
                </a:solidFill>
              </a:defRPr>
            </a:pPr>
            <a:r>
              <a:t>¡Resumen de lo Aprendido! 🎓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8229600" cy="0"/>
          </a:xfrm>
          <a:prstGeom prst="rect">
            <a:avLst/>
          </a:prstGeom>
          <a:ln w="381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800">
                <a:solidFill>
                  <a:srgbClr val="2C3E50"/>
                </a:solidFill>
              </a:defRPr>
            </a:pPr>
            <a:r>
              <a:t>✅ APIs permiten que sistemas se comuniquen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✅ REST usa verbos HTTP: GET, POST, PUT, DELETE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✅ Autenticación con tokens (JWT) protege recursos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✅ Consumir APIs externas integra servicios (bancos, impuestos)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✅ Git guarda historial de cambios del código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✅ Testing asegura que el código funcione correctamente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✅ Despliegue pone la aplicación en internet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✅ CI/CD automatiza el proceso de prueba y despliegue</a:t>
            </a:r>
          </a:p>
          <a:p>
            <a:r>
              <a:rPr sz="1600"/>
              <a:t>💡 </a:t>
            </a:r>
            <a:r>
              <a:rPr sz="1600" i="1">
                <a:solidFill>
                  <a:srgbClr val="F1C40F"/>
                </a:solidFill>
              </a:rPr>
              <a:t>¡Ahora puedes crear, integrar y desplegar sistemas reales! 🚀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980B9"/>
                </a:solidFill>
              </a:defRPr>
            </a:pPr>
            <a:r>
              <a:t>El Camino del Programador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8229600" cy="0"/>
          </a:xfrm>
          <a:prstGeom prst="rect">
            <a:avLst/>
          </a:prstGeom>
          <a:ln w="381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sz="1600"/>
              <a:t>💡 </a:t>
            </a:r>
            <a:r>
              <a:rPr sz="1600" i="1">
                <a:solidFill>
                  <a:srgbClr val="F1C40F"/>
                </a:solidFill>
              </a:rPr>
              <a:t>¡Has completado el viaje desde cero hasta sistemas profesionales! 🎉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🔹 Nivel 1: Entendiste cómo funcionan las computadoras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🔹 Nivel 2: Aprendiste los fundamentos (variables, if, loops)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🔹 Nivel 3: Organizaste datos y creaste funciones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🔹 Nivel 4: Diseñaste arquitecturas escalables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🔹 Nivel 5: Conectaste con el mundo real</a:t>
            </a:r>
          </a:p>
          <a:p>
            <a:r>
              <a:rPr sz="1600"/>
              <a:t>📝 </a:t>
            </a:r>
            <a:r>
              <a:rPr sz="1600" i="1">
                <a:solidFill>
                  <a:srgbClr val="2ECC71"/>
                </a:solidFill>
              </a:rPr>
              <a:t>Ahora puedes crear un ERP completo desde cero 💼</a:t>
            </a:r>
          </a:p>
          <a:p>
            <a:r>
              <a:rPr sz="1600"/>
              <a:t>💡 </a:t>
            </a:r>
            <a:r>
              <a:rPr sz="1600" i="1">
                <a:solidFill>
                  <a:srgbClr val="F1C40F"/>
                </a:solidFill>
              </a:rPr>
              <a:t>¡La programación es una aventura sin fin! Sigue aprendiendo y construyendo 🌟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