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Frecuencia</c:v>
                </c:pt>
              </c:strCache>
            </c:strRef>
          </c:tx>
          <c:spPr>
            <a:solidFill>
              <a:srgbClr val="2980B9"/>
            </a:solidFill>
          </c:spPr>
          <c:cat>
            <c:strRef>
              <c:f>Sheet1!$A$2:$A$4</c:f>
              <c:strCache>
                <c:ptCount val="3"/>
                <c:pt idx="0">
                  <c:v>Rojos</c:v>
                </c:pt>
                <c:pt idx="1">
                  <c:v>Azules</c:v>
                </c:pt>
                <c:pt idx="2">
                  <c:v>Blancos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3</c:v>
                </c:pt>
                <c:pt idx="2">
                  <c:v>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Estudiantes</c:v>
                </c:pt>
              </c:strCache>
            </c:strRef>
          </c:tx>
          <c:spPr>
            <a:solidFill>
              <a:srgbClr val="2980B9"/>
            </a:solidFill>
          </c:spPr>
          <c:cat>
            <c:strRef>
              <c:f>Sheet1!$A$2:$A$4</c:f>
              <c:strCache>
                <c:ptCount val="3"/>
                <c:pt idx="0">
                  <c:v>Nota 15</c:v>
                </c:pt>
                <c:pt idx="1">
                  <c:v>Nota 18</c:v>
                </c:pt>
                <c:pt idx="2">
                  <c:v>Nota 20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Preferencias</c:v>
                </c:pt>
              </c:strCache>
            </c:strRef>
          </c:tx>
          <c:spPr>
            <a:solidFill>
              <a:srgbClr val="2980B9"/>
            </a:solidFill>
          </c:spPr>
          <c:cat>
            <c:strRef>
              <c:f>Sheet1!$A$2:$A$4</c:f>
              <c:strCache>
                <c:ptCount val="3"/>
                <c:pt idx="0">
                  <c:v>Fútbol</c:v>
                </c:pt>
                <c:pt idx="1">
                  <c:v>Básquet</c:v>
                </c:pt>
                <c:pt idx="2">
                  <c:v>Vóley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7</c:v>
                </c:pt>
                <c:pt idx="2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 1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Apps</c:v>
                </c:pt>
                <c:pt idx="1">
                  <c:v>Fotos</c:v>
                </c:pt>
                <c:pt idx="2">
                  <c:v>Música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Temperatura</c:v>
                </c:pt>
              </c:strCache>
            </c:strRef>
          </c:tx>
          <c:spPr>
            <a:ln w="38100">
              <a:solidFill>
                <a:srgbClr val="E74C3C"/>
              </a:solidFill>
            </a:ln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</c:v>
                </c:pt>
                <c:pt idx="1">
                  <c:v>24</c:v>
                </c:pt>
                <c:pt idx="2">
                  <c:v>21</c:v>
                </c:pt>
                <c:pt idx="3">
                  <c:v>23</c:v>
                </c:pt>
                <c:pt idx="4">
                  <c:v>25</c:v>
                </c:pt>
                <c:pt idx="5">
                  <c:v>20</c:v>
                </c:pt>
                <c:pt idx="6">
                  <c:v>22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rgbClr val="2980B9"/>
            </a:solidFill>
          </c:spPr>
          <c:cat>
            <c:strRef>
              <c:f>Sheet1!$A$2:$A$4</c:f>
              <c:strCache>
                <c:ptCount val="3"/>
                <c:pt idx="0">
                  <c:v>Lunes</c:v>
                </c:pt>
                <c:pt idx="1">
                  <c:v>Martes</c:v>
                </c:pt>
                <c:pt idx="2">
                  <c:v>Miércoles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15</c:v>
                </c:pt>
                <c:pt idx="2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Distribución</c:v>
                </c:pt>
              </c:strCache>
            </c:strRef>
          </c:tx>
          <c:spPr>
            <a:solidFill>
              <a:srgbClr val="2980B9"/>
            </a:solidFill>
          </c:spPr>
          <c:cat>
            <c:strRef>
              <c:f>Sheet1!$A$2:$A$5</c:f>
              <c:strCache>
                <c:ptCount val="4"/>
                <c:pt idx="0">
                  <c:v>20°C</c:v>
                </c:pt>
                <c:pt idx="1">
                  <c:v>22°C</c:v>
                </c:pt>
                <c:pt idx="2">
                  <c:v>25°C</c:v>
                </c:pt>
                <c:pt idx="3">
                  <c:v>28°C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Representación de datos a través de tablas y gráficos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¡Organicemos los datos de forma divertida!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¿Por qué organizar datos?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¡Imagina tu cuarto desordenado vs ordenado! 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Datos desordenados = confusión 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Datos organizados = claridad y respuestas 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¿Qué helado prefieren tus amigos? Con una tabla lo sabrás al instante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¿Qué son los datos?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Son información que recolectamos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Pueden ser números: edades, pesos, calificaciones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O categorías: colores, sabores, deportes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Datos de tu clase: alturas de todos los estudiantes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¡Los datos cuentan historias, solo hay que saber leerlos!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Tablas de Frecuencia - ¿Qué son?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Es como hacer un conteo organizado 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Agrupamos datos iguales y contamos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¡Es como ordenar tu colección de cartas por tipo!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Si tienes muchas manzanas rojas y pocas verdes, la tabla lo muestra claramente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Frecuencia Absoluta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Es simplemente: ¿cuántas veces aparece?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Es el conteo directo, el número total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¡Es como contar con los dedos! 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Colores de autos en el estacionamiento: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Rojos: 5, Azules: 3, Blancos: 7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Las frecuencias absolutas son: 5, 3 y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Frecuencia Absoluta - Visualización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0" y="18288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Frecuencia Relativa - ¿Qué parte del todo?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Es la proporción, ¡el pedazo del pastel!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Responde: ¿qué parte del total representa cada categoría?</a:t>
            </a:r>
          </a:p>
          <a:p>
            <a:r>
              <a:rPr sz="1600"/>
              <a:t>📐 </a:t>
            </a:r>
            <a:r>
              <a:rPr sz="1600" i="1">
                <a:solidFill>
                  <a:srgbClr val="9B59B6"/>
                </a:solidFill>
              </a:rPr>
              <a:t>Frec. Relativa = (Las veces que aparece) / (El total de datos)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¡Es como saber qué porción de pizza te toca! 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Si hay 10 autos y 5 son rojos: 5 de 10 = la mitad = 50 por ciento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Ejemplo: ¡Guerra de Notas!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❓ </a:t>
            </a:r>
            <a:r>
              <a:rPr sz="1600" i="1">
                <a:solidFill>
                  <a:srgbClr val="E74C3C"/>
                </a:solidFill>
              </a:rPr>
              <a:t>Notas de 6 estudiantes: 15, 18, 15, 20, 18, 15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Paso 1: ¿Qué notas distintas hay? (15, 18, 20)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Paso 2: Contar cuántos sacaron cada nota (Frec. Absoluta)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Paso 3: Ver qué parte del grupo sacó esa nota (Frec. Relativa)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¡Vamos a construir la tabla juntos!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Tabla de Notas del Ejemplo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Nota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Frecuencia Absoluta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Nota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Frecuencia Relativa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 de 6 = 50 por ciento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 de 6 = 33 por ciento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 de 6 = 17 por ciento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Gráfico del Ejemplo - Notas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0" y="18288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Gráfico de Barras 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¡Compara cosas usando barras de diferentes alturas!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Cada barra es una categoría (ej: sabor de helado).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La altura de la barra te dice cuántos hay de esa categoría.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¡Perfecto para ver quién gana en una encuesta!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Deportes favoritos: Fútbol (10), Básquet (7), Vóley (5)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¡La barra de Fútbol será la más alta!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Ejemplo - Deportes Favoritos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0" y="18288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Histograma 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¡Parecido al gráfico de barras, pero para números!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Agrupa números en rangos (ej: edades de 0-10, 11-20...).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Las barras van pegaditas para mostrar continuidad.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Alturas de personas: 1.50-1.60m, 1.60-1.70m, etc.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¡Muestra dónde se amontonan más los datos!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Gráfico Circular (o de Pastel 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¡Un círculo que muestra las partes de un todo!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Cada 'rebanada' es una categoría.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El tamaño de la rebanada te dice qué tan grande es esa parte.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¡Ideal para ver cómo se reparte algo al 100 por ciento!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En tu celular: 50 por ciento para apps, 30 por ciento para fotos, 20 por ciento para música.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Ejemplo - Uso de Memoria del Celular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828800" y="1371600"/>
          <a:ext cx="5486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Gráfico de Líneas 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¡Conecta puntos para mostrar cómo algo cambia con el tiempo!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Perfecto para ver tendencias: ¿sube, baja o se mantiene?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La temperatura durante la semana: ¿hizo más calor el lunes o el viernes?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¡La línea te cuenta una historia de subidas y bajadas!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Ejemplo - Temperatura de la Semana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0" y="18288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¿Qué Gráfico Uso? ¡Elige tu arma!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Si quieres...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Usa...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Comparar categorías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Gráfico de Barras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Distribuir números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Histograma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Partes de un todo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Gráfico Circular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Cambios en el tiempo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Gráfico de Líneas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El Promedio - El 'Valor Justo'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También llamado 'media'. ¡Es el punto de equilibrio! 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Es el número que representa a todo el grupo.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¡Imagina repartir todos los caramelos en partes iguales!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Si 3 amigos tienen 2, 4 y 6 caramelos, el promedio es 4 para cada uno.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¿Cómo Calcular el Promedio?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Paso 1: ¡Suma todos los datos!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Paso 2: ¡Divide por la cantidad de datos que sumaste!</a:t>
            </a:r>
          </a:p>
          <a:p>
            <a:r>
              <a:rPr sz="1600"/>
              <a:t>📐 </a:t>
            </a:r>
            <a:r>
              <a:rPr sz="1600" i="1">
                <a:solidFill>
                  <a:srgbClr val="9B59B6"/>
                </a:solidFill>
              </a:rPr>
              <a:t>Promedio = (Suma de todos los datos) / (Cuántos datos hay)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¡Es como compartir la cuenta entre amigos!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Ejemplo de Promedio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Tus notas: 10, 12, 17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Paso 1: Sumar todo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10 + 12 + 17 = 39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Paso 2: Dividir entre 3 (porque son 3 notas)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Promedio = 39 / 3 = 13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¡Tu promedio es 13! Ese es el 'resumen' de tus notas.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Practicando con Frutas 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❓ </a:t>
            </a:r>
            <a:r>
              <a:rPr sz="1600" i="1">
                <a:solidFill>
                  <a:srgbClr val="E74C3C"/>
                </a:solidFill>
              </a:rPr>
              <a:t>Ventas de manzanas por día: Lunes (10), Martes (15), Miércoles (20)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¿Cuántas manzanas se venden en promedio cada día?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Visualización - Ventas de Manzanas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0" y="18288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Solución - Promedio de Manzanas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Suma: 10 + 15 + 20 = 45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Promedio: 45 / 3 días = 15 manzanas/día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¡En promedio, se venden 15 manzanas al día!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Ejercicio: ¡El Detective del Clima! 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❓ </a:t>
            </a:r>
            <a:r>
              <a:rPr sz="1600" i="1">
                <a:solidFill>
                  <a:srgbClr val="E74C3C"/>
                </a:solidFill>
              </a:rPr>
              <a:t>Temperaturas de 5 días (°C): 20, 25, 22, 28, 20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Tarea 1: ¿Cuál es la temperatura más común?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Tarea 2: Calcula la temperatura promedio.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Tarea 3: ¿Qué gráfico usarías para ver la evolución del clima?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¡Piensa qué historia quieres contar con los datos!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Solución - Tabla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Temperatura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Días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20 grados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22 grados C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25 grados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28 grados C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Gráfico - Distribución de Temperaturas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0" y="18288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Solución - Promedio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Suma: 20 + 25 + 22 + 28 + 20 = 115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Promedio: 115 / 5 días = 23°C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Interpretación: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La temperatura promedio de la semana fue 23°C.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¡Una semana bastante agradable!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Solución - Gráfico Ideal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Mejor opción: ¡Gráfico de líneas! 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¿Por qué?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Muestra los cambios día a día.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Podemos ver si el clima mejoró o empeoró.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¡Es perfecto para ver tendencias en el tiempo!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Un gráfico de barras también serviría para comparar los días.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¡Resumen de la Misión!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 Misión 1: Organizar datos con Tablas de Frecuencia.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Misión 2: Visualizar datos con Gráficos (barras, pastel, líneas).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Misión 3: Calcular el Promedio para encontrar el 'valor justo'.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¡Ahora eres un detective de datos capaz de organizarlos y entenderlos!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