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Frecuencia</c:v>
                </c:pt>
              </c:strCache>
            </c:strRef>
          </c:tx>
          <c:spPr>
            <a:solidFill>
              <a:srgbClr val="2980B9"/>
            </a:solidFill>
          </c:spPr>
          <c:cat>
            <c:strRef>
              <c:f>Sheet1!$A$2:$A$4</c:f>
              <c:strCache>
                <c:ptCount val="3"/>
                <c:pt idx="0">
                  <c:v>Rojos</c:v>
                </c:pt>
                <c:pt idx="1">
                  <c:v>Azules</c:v>
                </c:pt>
                <c:pt idx="2">
                  <c:v>Blancos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</c:v>
                </c:pt>
                <c:pt idx="1">
                  <c:v>3</c:v>
                </c:pt>
                <c:pt idx="2">
                  <c:v>7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Estudiantes</c:v>
                </c:pt>
              </c:strCache>
            </c:strRef>
          </c:tx>
          <c:spPr>
            <a:solidFill>
              <a:srgbClr val="2980B9"/>
            </a:solidFill>
          </c:spPr>
          <c:cat>
            <c:strRef>
              <c:f>Sheet1!$A$2:$A$4</c:f>
              <c:strCache>
                <c:ptCount val="3"/>
                <c:pt idx="0">
                  <c:v>Nota 15</c:v>
                </c:pt>
                <c:pt idx="1">
                  <c:v>Nota 18</c:v>
                </c:pt>
                <c:pt idx="2">
                  <c:v>Nota 20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</c:v>
                </c:pt>
                <c:pt idx="1">
                  <c:v>2</c:v>
                </c:pt>
                <c:pt idx="2">
                  <c:v>1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Preferencias</c:v>
                </c:pt>
              </c:strCache>
            </c:strRef>
          </c:tx>
          <c:spPr>
            <a:solidFill>
              <a:srgbClr val="2980B9"/>
            </a:solidFill>
          </c:spPr>
          <c:cat>
            <c:strRef>
              <c:f>Sheet1!$A$2:$A$4</c:f>
              <c:strCache>
                <c:ptCount val="3"/>
                <c:pt idx="0">
                  <c:v>Fútbol</c:v>
                </c:pt>
                <c:pt idx="1">
                  <c:v>Básquet</c:v>
                </c:pt>
                <c:pt idx="2">
                  <c:v>Vóley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10</c:v>
                </c:pt>
                <c:pt idx="1">
                  <c:v>7</c:v>
                </c:pt>
                <c:pt idx="2">
                  <c:v>5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autoTitleDeleted val="0"/>
    <c:plotArea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Serie 1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Apps</c:v>
                </c:pt>
                <c:pt idx="1">
                  <c:v>Fotos</c:v>
                </c:pt>
                <c:pt idx="2">
                  <c:v>Música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50</c:v>
                </c:pt>
                <c:pt idx="1">
                  <c:v>30</c:v>
                </c:pt>
                <c:pt idx="2">
                  <c:v>20</c:v>
                </c:pt>
              </c:numCache>
            </c:numRef>
          </c:val>
        </c:ser>
      </c:pieChart>
    </c:plotArea>
    <c:legend>
      <c:legendPos/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Temperatura</c:v>
                </c:pt>
              </c:strCache>
            </c:strRef>
          </c:tx>
          <c:spPr>
            <a:ln w="38100">
              <a:solidFill>
                <a:srgbClr val="E74C3C"/>
              </a:solidFill>
            </a:ln>
          </c:spPr>
          <c:marker>
            <c:symbol val="none"/>
          </c:marker>
          <c:cat>
            <c:strRef>
              <c:f>Sheet1!$A$2:$A$8</c:f>
              <c:strCache>
                <c:ptCount val="7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22</c:v>
                </c:pt>
                <c:pt idx="1">
                  <c:v>24</c:v>
                </c:pt>
                <c:pt idx="2">
                  <c:v>21</c:v>
                </c:pt>
                <c:pt idx="3">
                  <c:v>23</c:v>
                </c:pt>
                <c:pt idx="4">
                  <c:v>25</c:v>
                </c:pt>
                <c:pt idx="5">
                  <c:v>20</c:v>
                </c:pt>
                <c:pt idx="6">
                  <c:v>22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Ventas</c:v>
                </c:pt>
              </c:strCache>
            </c:strRef>
          </c:tx>
          <c:spPr>
            <a:solidFill>
              <a:srgbClr val="2980B9"/>
            </a:solidFill>
          </c:spPr>
          <c:cat>
            <c:strRef>
              <c:f>Sheet1!$A$2:$A$4</c:f>
              <c:strCache>
                <c:ptCount val="3"/>
                <c:pt idx="0">
                  <c:v>Lunes</c:v>
                </c:pt>
                <c:pt idx="1">
                  <c:v>Martes</c:v>
                </c:pt>
                <c:pt idx="2">
                  <c:v>Miércoles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10</c:v>
                </c:pt>
                <c:pt idx="1">
                  <c:v>15</c:v>
                </c:pt>
                <c:pt idx="2">
                  <c:v>20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Distribución</c:v>
                </c:pt>
              </c:strCache>
            </c:strRef>
          </c:tx>
          <c:spPr>
            <a:solidFill>
              <a:srgbClr val="2980B9"/>
            </a:solidFill>
          </c:spPr>
          <c:cat>
            <c:strRef>
              <c:f>Sheet1!$A$2:$A$5</c:f>
              <c:strCache>
                <c:ptCount val="4"/>
                <c:pt idx="0">
                  <c:v>20°C</c:v>
                </c:pt>
                <c:pt idx="1">
                  <c:v>22°C</c:v>
                </c:pt>
                <c:pt idx="2">
                  <c:v>25°C</c:v>
                </c:pt>
                <c:pt idx="3">
                  <c:v>28°C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</c:v>
                </c:pt>
                <c:pt idx="1">
                  <c:v>1</c:v>
                </c:pt>
                <c:pt idx="2">
                  <c:v>1</c:v>
                </c:pt>
                <c:pt idx="3">
                  <c:v>1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980B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t>Representación de datos a través de tablas y gráficos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84048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FFFFFF"/>
                </a:solidFill>
              </a:defRPr>
            </a:pPr>
            <a:r>
              <a:t>¡Organicemos los datos de forma divertida! 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2980B9"/>
                </a:solidFill>
              </a:defRPr>
            </a:pPr>
            <a:r>
              <a:t>¿Por qué organizar datos?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80160"/>
            <a:ext cx="8229600" cy="0"/>
          </a:xfrm>
          <a:prstGeom prst="rect">
            <a:avLst/>
          </a:prstGeom>
          <a:ln w="381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r>
              <a:rPr sz="1600"/>
              <a:t>💡 </a:t>
            </a:r>
            <a:r>
              <a:rPr sz="1600" i="1">
                <a:solidFill>
                  <a:srgbClr val="F1C40F"/>
                </a:solidFill>
              </a:rPr>
              <a:t>¡Imagina tu cuarto desordenado vs ordenado! 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Datos desordenados = confusión 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Datos organizados = claridad y respuestas </a:t>
            </a:r>
          </a:p>
          <a:p>
            <a:r>
              <a:rPr sz="1600"/>
              <a:t>📝 </a:t>
            </a:r>
            <a:r>
              <a:rPr sz="1600" i="1">
                <a:solidFill>
                  <a:srgbClr val="2ECC71"/>
                </a:solidFill>
              </a:rPr>
              <a:t>¿Qué helado prefieren tus amigos? Con una tabla lo sabrás al instante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2980B9"/>
                </a:solidFill>
              </a:defRPr>
            </a:pPr>
            <a:r>
              <a:t>¿Qué son los datos?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80160"/>
            <a:ext cx="8229600" cy="0"/>
          </a:xfrm>
          <a:prstGeom prst="rect">
            <a:avLst/>
          </a:prstGeom>
          <a:ln w="381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800">
                <a:solidFill>
                  <a:srgbClr val="2C3E50"/>
                </a:solidFill>
              </a:defRPr>
            </a:pPr>
            <a:r>
              <a:t>Son información que recolectamos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Pueden ser números: edades, pesos, calificaciones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O categorías: colores, sabores, deportes</a:t>
            </a:r>
          </a:p>
          <a:p>
            <a:r>
              <a:rPr sz="1600"/>
              <a:t>📝 </a:t>
            </a:r>
            <a:r>
              <a:rPr sz="1600" i="1">
                <a:solidFill>
                  <a:srgbClr val="2ECC71"/>
                </a:solidFill>
              </a:rPr>
              <a:t>Datos de tu clase: alturas de todos los estudiantes</a:t>
            </a:r>
          </a:p>
          <a:p>
            <a:r>
              <a:rPr sz="1600"/>
              <a:t>💡 </a:t>
            </a:r>
            <a:r>
              <a:rPr sz="1600" i="1">
                <a:solidFill>
                  <a:srgbClr val="F1C40F"/>
                </a:solidFill>
              </a:rPr>
              <a:t>¡Los datos cuentan historias, solo hay que saber leerlos! 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2980B9"/>
                </a:solidFill>
              </a:defRPr>
            </a:pPr>
            <a:r>
              <a:t>Tablas de Frecuencia - ¿Qué son?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80160"/>
            <a:ext cx="8229600" cy="0"/>
          </a:xfrm>
          <a:prstGeom prst="rect">
            <a:avLst/>
          </a:prstGeom>
          <a:ln w="381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800">
                <a:solidFill>
                  <a:srgbClr val="2C3E50"/>
                </a:solidFill>
              </a:defRPr>
            </a:pPr>
            <a:r>
              <a:t>Es como hacer un conteo organizado 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Agrupamos datos iguales y contamos</a:t>
            </a:r>
          </a:p>
          <a:p>
            <a:r>
              <a:rPr sz="1600"/>
              <a:t>💡 </a:t>
            </a:r>
            <a:r>
              <a:rPr sz="1600" i="1">
                <a:solidFill>
                  <a:srgbClr val="F1C40F"/>
                </a:solidFill>
              </a:rPr>
              <a:t>¡Es como ordenar tu colección de cartas por tipo!</a:t>
            </a:r>
          </a:p>
          <a:p>
            <a:r>
              <a:rPr sz="1600"/>
              <a:t>📝 </a:t>
            </a:r>
            <a:r>
              <a:rPr sz="1600" i="1">
                <a:solidFill>
                  <a:srgbClr val="2ECC71"/>
                </a:solidFill>
              </a:rPr>
              <a:t>Si tienes muchas manzanas rojas y pocas verdes, la tabla lo muestra claramente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2980B9"/>
                </a:solidFill>
              </a:defRPr>
            </a:pPr>
            <a:r>
              <a:t>Frecuencia Absoluta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80160"/>
            <a:ext cx="8229600" cy="0"/>
          </a:xfrm>
          <a:prstGeom prst="rect">
            <a:avLst/>
          </a:prstGeom>
          <a:ln w="381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800">
                <a:solidFill>
                  <a:srgbClr val="2C3E50"/>
                </a:solidFill>
              </a:defRPr>
            </a:pPr>
            <a:r>
              <a:t>Es simplemente: ¿cuántas veces aparece?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Es el conteo directo, el número total</a:t>
            </a:r>
          </a:p>
          <a:p>
            <a:r>
              <a:rPr sz="1600"/>
              <a:t>💡 </a:t>
            </a:r>
            <a:r>
              <a:rPr sz="1600" i="1">
                <a:solidFill>
                  <a:srgbClr val="F1C40F"/>
                </a:solidFill>
              </a:rPr>
              <a:t>¡Es como contar con los dedos! </a:t>
            </a:r>
          </a:p>
          <a:p>
            <a:r>
              <a:rPr sz="1600"/>
              <a:t>📝 </a:t>
            </a:r>
            <a:r>
              <a:rPr sz="1600" i="1">
                <a:solidFill>
                  <a:srgbClr val="2ECC71"/>
                </a:solidFill>
              </a:rPr>
              <a:t>Colores de autos en el estacionamiento: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Rojos: 5, Azules: 3, Blancos: 7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Las frecuencias absolutas son: 5, 3 y 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2980B9"/>
                </a:solidFill>
              </a:defRPr>
            </a:pPr>
            <a:r>
              <a:t>Frecuencia Absoluta - Visualización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80160"/>
            <a:ext cx="8229600" cy="0"/>
          </a:xfrm>
          <a:prstGeom prst="rect">
            <a:avLst/>
          </a:prstGeom>
          <a:ln w="381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1371600" y="1828800"/>
          <a:ext cx="64008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2980B9"/>
                </a:solidFill>
              </a:defRPr>
            </a:pPr>
            <a:r>
              <a:t>Frecuencia Relativa - ¿Qué parte del todo?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80160"/>
            <a:ext cx="8229600" cy="0"/>
          </a:xfrm>
          <a:prstGeom prst="rect">
            <a:avLst/>
          </a:prstGeom>
          <a:ln w="381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800">
                <a:solidFill>
                  <a:srgbClr val="2C3E50"/>
                </a:solidFill>
              </a:defRPr>
            </a:pPr>
            <a:r>
              <a:t>Es la proporción, ¡el pedazo del pastel!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Responde: ¿qué parte del total representa cada categoría?</a:t>
            </a:r>
          </a:p>
          <a:p>
            <a:r>
              <a:rPr sz="1600"/>
              <a:t>📐 </a:t>
            </a:r>
            <a:r>
              <a:rPr sz="1600" i="1">
                <a:solidFill>
                  <a:srgbClr val="9B59B6"/>
                </a:solidFill>
              </a:rPr>
              <a:t>Frec. Relativa = (Las veces que aparece) / (El total de datos)</a:t>
            </a:r>
          </a:p>
          <a:p>
            <a:r>
              <a:rPr sz="1600"/>
              <a:t>💡 </a:t>
            </a:r>
            <a:r>
              <a:rPr sz="1600" i="1">
                <a:solidFill>
                  <a:srgbClr val="F1C40F"/>
                </a:solidFill>
              </a:rPr>
              <a:t>¡Es como saber qué porción de pizza te toca! </a:t>
            </a:r>
          </a:p>
          <a:p>
            <a:r>
              <a:rPr sz="1600"/>
              <a:t>📝 </a:t>
            </a:r>
            <a:r>
              <a:rPr sz="1600" i="1">
                <a:solidFill>
                  <a:srgbClr val="2ECC71"/>
                </a:solidFill>
              </a:rPr>
              <a:t>Si hay 10 autos y 5 son rojos: 5 de 10 = la mitad = 50 por ciento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2980B9"/>
                </a:solidFill>
              </a:defRPr>
            </a:pPr>
            <a:r>
              <a:t>Ejemplo: ¡Guerra de Notas!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80160"/>
            <a:ext cx="8229600" cy="0"/>
          </a:xfrm>
          <a:prstGeom prst="rect">
            <a:avLst/>
          </a:prstGeom>
          <a:ln w="381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r>
              <a:rPr sz="1600"/>
              <a:t>❓ </a:t>
            </a:r>
            <a:r>
              <a:rPr sz="1600" i="1">
                <a:solidFill>
                  <a:srgbClr val="E74C3C"/>
                </a:solidFill>
              </a:rPr>
              <a:t>Notas de 6 estudiantes: 15, 18, 15, 20, 18, 15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Paso 1: ¿Qué notas distintas hay? (15, 18, 20)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Paso 2: Contar cuántos sacaron cada nota (Frec. Absoluta)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Paso 3: Ver qué parte del grupo sacó esa nota (Frec. Relativa)</a:t>
            </a:r>
          </a:p>
          <a:p>
            <a:r>
              <a:rPr sz="1600"/>
              <a:t>💡 </a:t>
            </a:r>
            <a:r>
              <a:rPr sz="1600" i="1">
                <a:solidFill>
                  <a:srgbClr val="F1C40F"/>
                </a:solidFill>
              </a:rPr>
              <a:t>¡Vamos a construir la tabla juntos!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2980B9"/>
                </a:solidFill>
              </a:defRPr>
            </a:pPr>
            <a:r>
              <a:t>Tabla de Notas del Ejemplo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80160"/>
            <a:ext cx="8229600" cy="0"/>
          </a:xfrm>
          <a:prstGeom prst="rect">
            <a:avLst/>
          </a:prstGeom>
          <a:ln w="381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914400" y="1828800"/>
          <a:ext cx="731520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</a:tblGrid>
              <a:tr h="914400"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Nota</a:t>
                      </a:r>
                    </a:p>
                  </a:txBody>
                  <a:tcPr>
                    <a:solidFill>
                      <a:srgbClr val="2980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Frecuencia Absoluta</a:t>
                      </a:r>
                    </a:p>
                  </a:txBody>
                  <a:tcPr>
                    <a:solidFill>
                      <a:srgbClr val="2980B9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3</a:t>
                      </a:r>
                    </a:p>
                  </a:txBody>
                  <a:tcPr/>
                </a:tc>
              </a:tr>
              <a:tr h="914400"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18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1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914400" y="1828800"/>
          <a:ext cx="731520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</a:tblGrid>
              <a:tr h="914400"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Nota</a:t>
                      </a:r>
                    </a:p>
                  </a:txBody>
                  <a:tcPr>
                    <a:solidFill>
                      <a:srgbClr val="2980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Frecuencia Relativa</a:t>
                      </a:r>
                    </a:p>
                  </a:txBody>
                  <a:tcPr>
                    <a:solidFill>
                      <a:srgbClr val="2980B9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3 de 6 = 50 por ciento</a:t>
                      </a:r>
                    </a:p>
                  </a:txBody>
                  <a:tcPr/>
                </a:tc>
              </a:tr>
              <a:tr h="914400"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18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2 de 6 = 33 por ciento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1 de 6 = 17 por ciento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2980B9"/>
                </a:solidFill>
              </a:defRPr>
            </a:pPr>
            <a:r>
              <a:t>Gráfico del Ejemplo - Notas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80160"/>
            <a:ext cx="8229600" cy="0"/>
          </a:xfrm>
          <a:prstGeom prst="rect">
            <a:avLst/>
          </a:prstGeom>
          <a:ln w="381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1371600" y="1828800"/>
          <a:ext cx="64008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2980B9"/>
                </a:solidFill>
              </a:defRPr>
            </a:pPr>
            <a:r>
              <a:t>Gráfico de Barras 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80160"/>
            <a:ext cx="8229600" cy="0"/>
          </a:xfrm>
          <a:prstGeom prst="rect">
            <a:avLst/>
          </a:prstGeom>
          <a:ln w="381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800">
                <a:solidFill>
                  <a:srgbClr val="2C3E50"/>
                </a:solidFill>
              </a:defRPr>
            </a:pPr>
            <a:r>
              <a:t>¡Compara cosas usando barras de diferentes alturas!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Cada barra es una categoría (ej: sabor de helado).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La altura de la barra te dice cuántos hay de esa categoría.</a:t>
            </a:r>
          </a:p>
          <a:p>
            <a:r>
              <a:rPr sz="1600"/>
              <a:t>💡 </a:t>
            </a:r>
            <a:r>
              <a:rPr sz="1600" i="1">
                <a:solidFill>
                  <a:srgbClr val="F1C40F"/>
                </a:solidFill>
              </a:rPr>
              <a:t>¡Perfecto para ver quién gana en una encuesta!</a:t>
            </a:r>
          </a:p>
          <a:p>
            <a:r>
              <a:rPr sz="1600"/>
              <a:t>📝 </a:t>
            </a:r>
            <a:r>
              <a:rPr sz="1600" i="1">
                <a:solidFill>
                  <a:srgbClr val="2ECC71"/>
                </a:solidFill>
              </a:rPr>
              <a:t>Deportes favoritos: Fútbol (10), Básquet (7), Vóley (5)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¡La barra de Fútbol será la más alta! 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2980B9"/>
                </a:solidFill>
              </a:defRPr>
            </a:pPr>
            <a:r>
              <a:t>Ejemplo - Deportes Favoritos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80160"/>
            <a:ext cx="8229600" cy="0"/>
          </a:xfrm>
          <a:prstGeom prst="rect">
            <a:avLst/>
          </a:prstGeom>
          <a:ln w="381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1371600" y="1828800"/>
          <a:ext cx="64008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2980B9"/>
                </a:solidFill>
              </a:defRPr>
            </a:pPr>
            <a:r>
              <a:t>Histograma 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80160"/>
            <a:ext cx="8229600" cy="0"/>
          </a:xfrm>
          <a:prstGeom prst="rect">
            <a:avLst/>
          </a:prstGeom>
          <a:ln w="381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800">
                <a:solidFill>
                  <a:srgbClr val="2C3E50"/>
                </a:solidFill>
              </a:defRPr>
            </a:pPr>
            <a:r>
              <a:t>¡Parecido al gráfico de barras, pero para números!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Agrupa números en rangos (ej: edades de 0-10, 11-20...).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Las barras van pegaditas para mostrar continuidad.</a:t>
            </a:r>
          </a:p>
          <a:p>
            <a:r>
              <a:rPr sz="1600"/>
              <a:t>📝 </a:t>
            </a:r>
            <a:r>
              <a:rPr sz="1600" i="1">
                <a:solidFill>
                  <a:srgbClr val="2ECC71"/>
                </a:solidFill>
              </a:rPr>
              <a:t>Alturas de personas: 1.50-1.60m, 1.60-1.70m, etc.</a:t>
            </a:r>
          </a:p>
          <a:p>
            <a:r>
              <a:rPr sz="1600"/>
              <a:t>💡 </a:t>
            </a:r>
            <a:r>
              <a:rPr sz="1600" i="1">
                <a:solidFill>
                  <a:srgbClr val="F1C40F"/>
                </a:solidFill>
              </a:rPr>
              <a:t>¡Muestra dónde se amontonan más los datos!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2980B9"/>
                </a:solidFill>
              </a:defRPr>
            </a:pPr>
            <a:r>
              <a:t>Gráfico Circular (o de Pastel 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80160"/>
            <a:ext cx="8229600" cy="0"/>
          </a:xfrm>
          <a:prstGeom prst="rect">
            <a:avLst/>
          </a:prstGeom>
          <a:ln w="381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800">
                <a:solidFill>
                  <a:srgbClr val="2C3E50"/>
                </a:solidFill>
              </a:defRPr>
            </a:pPr>
            <a:r>
              <a:t>¡Un círculo que muestra las partes de un todo!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Cada 'rebanada' es una categoría.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El tamaño de la rebanada te dice qué tan grande es esa parte.</a:t>
            </a:r>
          </a:p>
          <a:p>
            <a:r>
              <a:rPr sz="1600"/>
              <a:t>💡 </a:t>
            </a:r>
            <a:r>
              <a:rPr sz="1600" i="1">
                <a:solidFill>
                  <a:srgbClr val="F1C40F"/>
                </a:solidFill>
              </a:rPr>
              <a:t>¡Ideal para ver cómo se reparte algo al 100 por ciento!</a:t>
            </a:r>
          </a:p>
          <a:p>
            <a:r>
              <a:rPr sz="1600"/>
              <a:t>📝 </a:t>
            </a:r>
            <a:r>
              <a:rPr sz="1600" i="1">
                <a:solidFill>
                  <a:srgbClr val="2ECC71"/>
                </a:solidFill>
              </a:rPr>
              <a:t>En tu celular: 50 por ciento para apps, 30 por ciento para fotos, 20 por ciento para música.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2980B9"/>
                </a:solidFill>
              </a:defRPr>
            </a:pPr>
            <a:r>
              <a:t>Ejemplo - Uso de Memoria del Celular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80160"/>
            <a:ext cx="8229600" cy="0"/>
          </a:xfrm>
          <a:prstGeom prst="rect">
            <a:avLst/>
          </a:prstGeom>
          <a:ln w="381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1828800" y="1371600"/>
          <a:ext cx="5486400" cy="4572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2980B9"/>
                </a:solidFill>
              </a:defRPr>
            </a:pPr>
            <a:r>
              <a:t>Gráfico de Líneas 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80160"/>
            <a:ext cx="8229600" cy="0"/>
          </a:xfrm>
          <a:prstGeom prst="rect">
            <a:avLst/>
          </a:prstGeom>
          <a:ln w="381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800">
                <a:solidFill>
                  <a:srgbClr val="2C3E50"/>
                </a:solidFill>
              </a:defRPr>
            </a:pPr>
            <a:r>
              <a:t>¡Conecta puntos para mostrar cómo algo cambia con el tiempo!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Perfecto para ver tendencias: ¿sube, baja o se mantiene?</a:t>
            </a:r>
          </a:p>
          <a:p>
            <a:r>
              <a:rPr sz="1600"/>
              <a:t>📝 </a:t>
            </a:r>
            <a:r>
              <a:rPr sz="1600" i="1">
                <a:solidFill>
                  <a:srgbClr val="2ECC71"/>
                </a:solidFill>
              </a:rPr>
              <a:t>La temperatura durante la semana: ¿hizo más calor el lunes o el viernes?</a:t>
            </a:r>
          </a:p>
          <a:p>
            <a:r>
              <a:rPr sz="1600"/>
              <a:t>💡 </a:t>
            </a:r>
            <a:r>
              <a:rPr sz="1600" i="1">
                <a:solidFill>
                  <a:srgbClr val="F1C40F"/>
                </a:solidFill>
              </a:rPr>
              <a:t>¡La línea te cuenta una historia de subidas y bajadas! 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2980B9"/>
                </a:solidFill>
              </a:defRPr>
            </a:pPr>
            <a:r>
              <a:t>Ejemplo - Temperatura de la Semana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80160"/>
            <a:ext cx="8229600" cy="0"/>
          </a:xfrm>
          <a:prstGeom prst="rect">
            <a:avLst/>
          </a:prstGeom>
          <a:ln w="381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1371600" y="1828800"/>
          <a:ext cx="64008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2980B9"/>
                </a:solidFill>
              </a:defRPr>
            </a:pPr>
            <a:r>
              <a:t>¿Qué Gráfico Uso? ¡Elige tu arma!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80160"/>
            <a:ext cx="8229600" cy="0"/>
          </a:xfrm>
          <a:prstGeom prst="rect">
            <a:avLst/>
          </a:prstGeom>
          <a:ln w="381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914400" y="1828800"/>
          <a:ext cx="731520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</a:tblGrid>
              <a:tr h="731520"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Si quieres...</a:t>
                      </a:r>
                    </a:p>
                  </a:txBody>
                  <a:tcPr>
                    <a:solidFill>
                      <a:srgbClr val="2980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Usa...</a:t>
                      </a:r>
                    </a:p>
                  </a:txBody>
                  <a:tcPr>
                    <a:solidFill>
                      <a:srgbClr val="2980B9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Comparar categorías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Gráfico de Barras</a:t>
                      </a:r>
                    </a:p>
                  </a:txBody>
                  <a:tcPr/>
                </a:tc>
              </a:tr>
              <a:tr h="731520"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Distribuir números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Histograma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Partes de un todo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Gráfico Circular</a:t>
                      </a:r>
                    </a:p>
                  </a:txBody>
                  <a:tcPr/>
                </a:tc>
              </a:tr>
              <a:tr h="731520"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Cambios en el tiempo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Gráfico de Líneas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2980B9"/>
                </a:solidFill>
              </a:defRPr>
            </a:pPr>
            <a:r>
              <a:t>El Promedio - El 'Valor Justo'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80160"/>
            <a:ext cx="8229600" cy="0"/>
          </a:xfrm>
          <a:prstGeom prst="rect">
            <a:avLst/>
          </a:prstGeom>
          <a:ln w="381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800">
                <a:solidFill>
                  <a:srgbClr val="2C3E50"/>
                </a:solidFill>
              </a:defRPr>
            </a:pPr>
            <a:r>
              <a:t>También llamado 'media'. ¡Es el punto de equilibrio! 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Es el número que representa a todo el grupo.</a:t>
            </a:r>
          </a:p>
          <a:p>
            <a:r>
              <a:rPr sz="1600"/>
              <a:t>💡 </a:t>
            </a:r>
            <a:r>
              <a:rPr sz="1600" i="1">
                <a:solidFill>
                  <a:srgbClr val="F1C40F"/>
                </a:solidFill>
              </a:rPr>
              <a:t>¡Imagina repartir todos los caramelos en partes iguales!</a:t>
            </a:r>
          </a:p>
          <a:p>
            <a:r>
              <a:rPr sz="1600"/>
              <a:t>📝 </a:t>
            </a:r>
            <a:r>
              <a:rPr sz="1600" i="1">
                <a:solidFill>
                  <a:srgbClr val="2ECC71"/>
                </a:solidFill>
              </a:rPr>
              <a:t>Si 3 amigos tienen 2, 4 y 6 caramelos, el promedio es 4 para cada uno.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2980B9"/>
                </a:solidFill>
              </a:defRPr>
            </a:pPr>
            <a:r>
              <a:t>¿Cómo Calcular el Promedio?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80160"/>
            <a:ext cx="8229600" cy="0"/>
          </a:xfrm>
          <a:prstGeom prst="rect">
            <a:avLst/>
          </a:prstGeom>
          <a:ln w="381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800">
                <a:solidFill>
                  <a:srgbClr val="2C3E50"/>
                </a:solidFill>
              </a:defRPr>
            </a:pPr>
            <a:r>
              <a:t>Paso 1: ¡Suma todos los datos!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Paso 2: ¡Divide por la cantidad de datos que sumaste!</a:t>
            </a:r>
          </a:p>
          <a:p>
            <a:r>
              <a:rPr sz="1600"/>
              <a:t>📐 </a:t>
            </a:r>
            <a:r>
              <a:rPr sz="1600" i="1">
                <a:solidFill>
                  <a:srgbClr val="9B59B6"/>
                </a:solidFill>
              </a:rPr>
              <a:t>Promedio = (Suma de todos los datos) / (Cuántos datos hay)</a:t>
            </a:r>
          </a:p>
          <a:p>
            <a:r>
              <a:rPr sz="1600"/>
              <a:t>💡 </a:t>
            </a:r>
            <a:r>
              <a:rPr sz="1600" i="1">
                <a:solidFill>
                  <a:srgbClr val="F1C40F"/>
                </a:solidFill>
              </a:rPr>
              <a:t>¡Es como compartir la cuenta entre amigos! 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2980B9"/>
                </a:solidFill>
              </a:defRPr>
            </a:pPr>
            <a:r>
              <a:t>Ejemplo de Promedio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80160"/>
            <a:ext cx="8229600" cy="0"/>
          </a:xfrm>
          <a:prstGeom prst="rect">
            <a:avLst/>
          </a:prstGeom>
          <a:ln w="381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r>
              <a:rPr sz="1600"/>
              <a:t>📝 </a:t>
            </a:r>
            <a:r>
              <a:rPr sz="1600" i="1">
                <a:solidFill>
                  <a:srgbClr val="2ECC71"/>
                </a:solidFill>
              </a:rPr>
              <a:t>Tus notas: 10, 12, 17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Paso 1: Sumar todo</a:t>
            </a:r>
          </a:p>
          <a:p>
            <a:r>
              <a:rPr sz="1600"/>
              <a:t>🔢 </a:t>
            </a:r>
            <a:r>
              <a:rPr sz="1600" i="1">
                <a:solidFill>
                  <a:srgbClr val="2980B9"/>
                </a:solidFill>
              </a:rPr>
              <a:t>10 + 12 + 17 = 39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Paso 2: Dividir entre 3 (porque son 3 notas)</a:t>
            </a:r>
          </a:p>
          <a:p>
            <a:r>
              <a:rPr sz="1600"/>
              <a:t>🔢 </a:t>
            </a:r>
            <a:r>
              <a:rPr sz="1600" i="1">
                <a:solidFill>
                  <a:srgbClr val="2980B9"/>
                </a:solidFill>
              </a:rPr>
              <a:t>Promedio = 39 / 3 = 13</a:t>
            </a:r>
          </a:p>
          <a:p>
            <a:r>
              <a:rPr sz="1600"/>
              <a:t>💡 </a:t>
            </a:r>
            <a:r>
              <a:rPr sz="1600" i="1">
                <a:solidFill>
                  <a:srgbClr val="F1C40F"/>
                </a:solidFill>
              </a:rPr>
              <a:t>¡Tu promedio es 13! Ese es el 'resumen' de tus notas.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2980B9"/>
                </a:solidFill>
              </a:defRPr>
            </a:pPr>
            <a:r>
              <a:t>Practicando con Frutas 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80160"/>
            <a:ext cx="8229600" cy="0"/>
          </a:xfrm>
          <a:prstGeom prst="rect">
            <a:avLst/>
          </a:prstGeom>
          <a:ln w="381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r>
              <a:rPr sz="1600"/>
              <a:t>❓ </a:t>
            </a:r>
            <a:r>
              <a:rPr sz="1600" i="1">
                <a:solidFill>
                  <a:srgbClr val="E74C3C"/>
                </a:solidFill>
              </a:rPr>
              <a:t>Ventas de manzanas por día: Lunes (10), Martes (15), Miércoles (20)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¿Cuántas manzanas se venden en promedio cada día?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2980B9"/>
                </a:solidFill>
              </a:defRPr>
            </a:pPr>
            <a:r>
              <a:t>Visualización - Ventas de Manzanas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80160"/>
            <a:ext cx="8229600" cy="0"/>
          </a:xfrm>
          <a:prstGeom prst="rect">
            <a:avLst/>
          </a:prstGeom>
          <a:ln w="381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1371600" y="1828800"/>
          <a:ext cx="64008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2980B9"/>
                </a:solidFill>
              </a:defRPr>
            </a:pPr>
            <a:r>
              <a:t>Solución - Promedio de Manzanas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80160"/>
            <a:ext cx="8229600" cy="0"/>
          </a:xfrm>
          <a:prstGeom prst="rect">
            <a:avLst/>
          </a:prstGeom>
          <a:ln w="381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r>
              <a:rPr sz="1600"/>
              <a:t>🔢 </a:t>
            </a:r>
            <a:r>
              <a:rPr sz="1600" i="1">
                <a:solidFill>
                  <a:srgbClr val="2980B9"/>
                </a:solidFill>
              </a:rPr>
              <a:t>Suma: 10 + 15 + 20 = 45</a:t>
            </a:r>
          </a:p>
          <a:p>
            <a:r>
              <a:rPr sz="1600"/>
              <a:t>🔢 </a:t>
            </a:r>
            <a:r>
              <a:rPr sz="1600" i="1">
                <a:solidFill>
                  <a:srgbClr val="2980B9"/>
                </a:solidFill>
              </a:rPr>
              <a:t>Promedio: 45 / 3 días = 15 manzanas/día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¡En promedio, se venden 15 manzanas al día! 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2980B9"/>
                </a:solidFill>
              </a:defRPr>
            </a:pPr>
            <a:r>
              <a:t>Ejercicio: ¡El Detective del Clima! 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80160"/>
            <a:ext cx="8229600" cy="0"/>
          </a:xfrm>
          <a:prstGeom prst="rect">
            <a:avLst/>
          </a:prstGeom>
          <a:ln w="381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r>
              <a:rPr sz="1600"/>
              <a:t>❓ </a:t>
            </a:r>
            <a:r>
              <a:rPr sz="1600" i="1">
                <a:solidFill>
                  <a:srgbClr val="E74C3C"/>
                </a:solidFill>
              </a:rPr>
              <a:t>Temperaturas de 5 días (°C): 20, 25, 22, 28, 20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Tarea 1: ¿Cuál es la temperatura más común?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Tarea 2: Calcula la temperatura promedio.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Tarea 3: ¿Qué gráfico usarías para ver la evolución del clima?</a:t>
            </a:r>
          </a:p>
          <a:p>
            <a:r>
              <a:rPr sz="1600"/>
              <a:t>💡 </a:t>
            </a:r>
            <a:r>
              <a:rPr sz="1600" i="1">
                <a:solidFill>
                  <a:srgbClr val="F1C40F"/>
                </a:solidFill>
              </a:rPr>
              <a:t>¡Piensa qué historia quieres contar con los datos!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2980B9"/>
                </a:solidFill>
              </a:defRPr>
            </a:pPr>
            <a:r>
              <a:t>Solución - Tabla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80160"/>
            <a:ext cx="8229600" cy="0"/>
          </a:xfrm>
          <a:prstGeom prst="rect">
            <a:avLst/>
          </a:prstGeom>
          <a:ln w="381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914400" y="1828800"/>
          <a:ext cx="731520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</a:tblGrid>
              <a:tr h="731520"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Temperatura</a:t>
                      </a:r>
                    </a:p>
                  </a:txBody>
                  <a:tcPr>
                    <a:solidFill>
                      <a:srgbClr val="2980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Días</a:t>
                      </a:r>
                    </a:p>
                  </a:txBody>
                  <a:tcPr>
                    <a:solidFill>
                      <a:srgbClr val="2980B9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20 grados 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2</a:t>
                      </a:r>
                    </a:p>
                  </a:txBody>
                  <a:tcPr/>
                </a:tc>
              </a:tr>
              <a:tr h="731520"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22 grados C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25 grados 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1</a:t>
                      </a:r>
                    </a:p>
                  </a:txBody>
                  <a:tcPr/>
                </a:tc>
              </a:tr>
              <a:tr h="731520"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28 grados C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2980B9"/>
                </a:solidFill>
              </a:defRPr>
            </a:pPr>
            <a:r>
              <a:t>Gráfico - Distribución de Temperaturas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80160"/>
            <a:ext cx="8229600" cy="0"/>
          </a:xfrm>
          <a:prstGeom prst="rect">
            <a:avLst/>
          </a:prstGeom>
          <a:ln w="381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1371600" y="1828800"/>
          <a:ext cx="64008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2980B9"/>
                </a:solidFill>
              </a:defRPr>
            </a:pPr>
            <a:r>
              <a:t>Solución - Promedio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80160"/>
            <a:ext cx="8229600" cy="0"/>
          </a:xfrm>
          <a:prstGeom prst="rect">
            <a:avLst/>
          </a:prstGeom>
          <a:ln w="381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r>
              <a:rPr sz="1600"/>
              <a:t>🔢 </a:t>
            </a:r>
            <a:r>
              <a:rPr sz="1600" i="1">
                <a:solidFill>
                  <a:srgbClr val="2980B9"/>
                </a:solidFill>
              </a:rPr>
              <a:t>Suma: 20 + 25 + 22 + 28 + 20 = 115</a:t>
            </a:r>
          </a:p>
          <a:p>
            <a:r>
              <a:rPr sz="1600"/>
              <a:t>🔢 </a:t>
            </a:r>
            <a:r>
              <a:rPr sz="1600" i="1">
                <a:solidFill>
                  <a:srgbClr val="2980B9"/>
                </a:solidFill>
              </a:rPr>
              <a:t>Promedio: 115 / 5 días = 23°C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Interpretación: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La temperatura promedio de la semana fue 23°C.</a:t>
            </a:r>
          </a:p>
          <a:p>
            <a:r>
              <a:rPr sz="1600"/>
              <a:t>💡 </a:t>
            </a:r>
            <a:r>
              <a:rPr sz="1600" i="1">
                <a:solidFill>
                  <a:srgbClr val="F1C40F"/>
                </a:solidFill>
              </a:rPr>
              <a:t>¡Una semana bastante agradable! 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2980B9"/>
                </a:solidFill>
              </a:defRPr>
            </a:pPr>
            <a:r>
              <a:t>Solución - Gráfico Ideal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80160"/>
            <a:ext cx="8229600" cy="0"/>
          </a:xfrm>
          <a:prstGeom prst="rect">
            <a:avLst/>
          </a:prstGeom>
          <a:ln w="381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800">
                <a:solidFill>
                  <a:srgbClr val="2C3E50"/>
                </a:solidFill>
              </a:defRPr>
            </a:pPr>
            <a:r>
              <a:t>Mejor opción: ¡Gráfico de líneas! 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¿Por qué?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 Muestra los cambios día a día.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 Podemos ver si el clima mejoró o empeoró.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 ¡Es perfecto para ver tendencias en el tiempo!</a:t>
            </a:r>
          </a:p>
          <a:p>
            <a:r>
              <a:rPr sz="1600"/>
              <a:t>💡 </a:t>
            </a:r>
            <a:r>
              <a:rPr sz="1600" i="1">
                <a:solidFill>
                  <a:srgbClr val="F1C40F"/>
                </a:solidFill>
              </a:rPr>
              <a:t>Un gráfico de barras también serviría para comparar los días.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2980B9"/>
                </a:solidFill>
              </a:defRPr>
            </a:pPr>
            <a:r>
              <a:t>¡Resumen de la Misión!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80160"/>
            <a:ext cx="8229600" cy="0"/>
          </a:xfrm>
          <a:prstGeom prst="rect">
            <a:avLst/>
          </a:prstGeom>
          <a:ln w="381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800">
                <a:solidFill>
                  <a:srgbClr val="2C3E50"/>
                </a:solidFill>
              </a:defRPr>
            </a:pPr>
            <a:r>
              <a:t> Misión 1: Organizar datos con Tablas de Frecuencia.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 Misión 2: Visualizar datos con Gráficos (barras, pastel, líneas).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 Misión 3: Calcular el Promedio para encontrar el 'valor justo'.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 ¡Ahora eres un detective de datos capaz de organizarlos y entenderlos! 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