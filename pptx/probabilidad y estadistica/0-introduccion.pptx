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980B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Introducción a la Probabilidad y Estadística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84048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FFFFFF"/>
                </a:solidFill>
              </a:defRPr>
            </a:pPr>
            <a:r>
              <a:t>¡Una aventura con números y adivinanzas!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2980B9"/>
                </a:solidFill>
              </a:defRPr>
            </a:pPr>
            <a:r>
              <a:t>¿Qué vamos a aprender?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8229600" cy="0"/>
          </a:xfrm>
          <a:prstGeom prst="rect">
            <a:avLst/>
          </a:prstGeom>
          <a:ln w="381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r>
              <a:rPr sz="1600"/>
              <a:t>💡 </a:t>
            </a:r>
            <a:r>
              <a:rPr sz="1600" i="1">
                <a:solidFill>
                  <a:srgbClr val="F1C40F"/>
                </a:solidFill>
              </a:rPr>
              <a:t>¡Bienvenidos, exploradores de datos! 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Vamos a descubrir dos superpoderes: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 Estadística: El poder de entender lo que ya pasó (¡como un detective!).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 Probabilidad: El poder de adivinar lo que podría pasar (¡como un mago!).</a:t>
            </a:r>
          </a:p>
          <a:p>
            <a:r>
              <a:rPr sz="1600"/>
              <a:t>📝 </a:t>
            </a:r>
            <a:r>
              <a:rPr sz="1600" i="1">
                <a:solidFill>
                  <a:srgbClr val="2ECC71"/>
                </a:solidFill>
              </a:rPr>
              <a:t>Estadística es ver qué sabor de helado fue el más vendido ayer. Probabilidad es adivinar cuál será el más vendido mañana.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2980B9"/>
                </a:solidFill>
              </a:defRPr>
            </a:pPr>
            <a:r>
              <a:t>¿Qué es la Estadística? ¡El Poder del Detective!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8229600" cy="0"/>
          </a:xfrm>
          <a:prstGeom prst="rect">
            <a:avLst/>
          </a:prstGeom>
          <a:ln w="381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800">
                <a:solidFill>
                  <a:srgbClr val="2C3E50"/>
                </a:solidFill>
              </a:defRPr>
            </a:pPr>
            <a:r>
              <a:t>Es el arte de coleccionar, organizar y entender la información (los datos).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Nos ayuda a descubrir secretos escondidos en los números.</a:t>
            </a:r>
          </a:p>
          <a:p>
            <a:r>
              <a:rPr sz="1600"/>
              <a:t>💡 </a:t>
            </a:r>
            <a:r>
              <a:rPr sz="1600" i="1">
                <a:solidFill>
                  <a:srgbClr val="F1C40F"/>
                </a:solidFill>
              </a:rPr>
              <a:t>¡Es como encontrar pistas para resolver un misterio! </a:t>
            </a:r>
          </a:p>
          <a:p>
            <a:r>
              <a:rPr sz="1600"/>
              <a:t>📝 </a:t>
            </a:r>
            <a:r>
              <a:rPr sz="1600" i="1">
                <a:solidFill>
                  <a:srgbClr val="2ECC71"/>
                </a:solidFill>
              </a:rPr>
              <a:t>Hacer una encuesta en tu clase para saber cuál es el superhéroe favorito de todos.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2980B9"/>
                </a:solidFill>
              </a:defRPr>
            </a:pPr>
            <a:r>
              <a:t>La Estadística está en TODAS PARTES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8229600" cy="0"/>
          </a:xfrm>
          <a:prstGeom prst="rect">
            <a:avLst/>
          </a:prstGeom>
          <a:ln w="381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800">
                <a:solidFill>
                  <a:srgbClr val="2C3E50"/>
                </a:solidFill>
              </a:defRPr>
            </a:pPr>
            <a:r>
              <a:t> En tu celular: viendo cuántos 'likes' tiene una foto.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 En los deportes: viendo quién ha metido más goles.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 En los videojuegos: viendo tu récord de puntos.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 En Netflix: mostrándote las series más populares.</a:t>
            </a:r>
          </a:p>
          <a:p>
            <a:r>
              <a:rPr sz="1600"/>
              <a:t>💡 </a:t>
            </a:r>
            <a:r>
              <a:rPr sz="1600" i="1">
                <a:solidFill>
                  <a:srgbClr val="F1C40F"/>
                </a:solidFill>
              </a:rPr>
              <a:t>¡Usas estadísticas todos los días sin darte cuenta!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2980B9"/>
                </a:solidFill>
              </a:defRPr>
            </a:pPr>
            <a:r>
              <a:t>Ejemplo de Estadística: La Guerra de Helados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8229600" cy="0"/>
          </a:xfrm>
          <a:prstGeom prst="rect">
            <a:avLst/>
          </a:prstGeom>
          <a:ln w="381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914400" y="1828800"/>
          <a:ext cx="73152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</a:tblGrid>
              <a:tr h="731520"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Sabor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Nº de Fans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Chocolate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4</a:t>
                      </a:r>
                    </a:p>
                  </a:txBody>
                  <a:tcPr/>
                </a:tc>
              </a:tr>
              <a:tr h="731520"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Vainilla 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Fresa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2</a:t>
                      </a:r>
                    </a:p>
                  </a:txBody>
                  <a:tcPr/>
                </a:tc>
              </a:tr>
              <a:tr h="731520"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Limón 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2980B9"/>
                </a:solidFill>
              </a:defRPr>
            </a:pPr>
            <a:r>
              <a:t>¿Qué es la Probabilidad? ¡El Poder del Mago!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8229600" cy="0"/>
          </a:xfrm>
          <a:prstGeom prst="rect">
            <a:avLst/>
          </a:prstGeom>
          <a:ln w="381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800">
                <a:solidFill>
                  <a:srgbClr val="2C3E50"/>
                </a:solidFill>
              </a:defRPr>
            </a:pPr>
            <a:r>
              <a:t>Es el arte de medir las posibilidades de que algo ocurra en el futuro.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Se usa cuando hay duda o no estamos seguros de lo que pasará.</a:t>
            </a:r>
          </a:p>
          <a:p>
            <a:r>
              <a:rPr sz="1600"/>
              <a:t>💡 </a:t>
            </a:r>
            <a:r>
              <a:rPr sz="1600" i="1">
                <a:solidFill>
                  <a:srgbClr val="F1C40F"/>
                </a:solidFill>
              </a:rPr>
              <a:t>¡Es como predecir el futuro con matemáticas! </a:t>
            </a:r>
          </a:p>
          <a:p>
            <a:r>
              <a:rPr sz="1600"/>
              <a:t>📝 </a:t>
            </a:r>
            <a:r>
              <a:rPr sz="1600" i="1">
                <a:solidFill>
                  <a:srgbClr val="2ECC71"/>
                </a:solidFill>
              </a:rPr>
              <a:t>¿Qué tan posible es que llueva hoy? ¿50 por ciento? ¿80 por ciento?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2980B9"/>
                </a:solidFill>
              </a:defRPr>
            </a:pPr>
            <a:r>
              <a:t>La Probabilidad está en JUEGO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8229600" cy="0"/>
          </a:xfrm>
          <a:prstGeom prst="rect">
            <a:avLst/>
          </a:prstGeom>
          <a:ln w="381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800">
                <a:solidFill>
                  <a:srgbClr val="2C3E50"/>
                </a:solidFill>
              </a:defRPr>
            </a:pPr>
            <a:r>
              <a:t> En los juegos de mesa: al lanzar un dado.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 En las cartas: ¿qué chance tienes de sacar un As?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 En los deportes: ¿ganará tu equipo el próximo partido?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 En el clima: cuando ves el pronóstico del tiempo.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 En los sorteos: ¿qué tan posible es que ganes?</a:t>
            </a:r>
          </a:p>
          <a:p>
            <a:r>
              <a:rPr sz="1600"/>
              <a:t>💡 </a:t>
            </a:r>
            <a:r>
              <a:rPr sz="1600" i="1">
                <a:solidFill>
                  <a:srgbClr val="F1C40F"/>
                </a:solidFill>
              </a:rPr>
              <a:t>¡La probabilidad te ayuda a apostar y tomar decisiones!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2980B9"/>
                </a:solidFill>
              </a:defRPr>
            </a:pPr>
            <a:r>
              <a:t>Ejemplo de Probabilidad: La Bolsa Misteriosa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8229600" cy="0"/>
          </a:xfrm>
          <a:prstGeom prst="rect">
            <a:avLst/>
          </a:prstGeom>
          <a:ln w="381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r>
              <a:rPr sz="1600"/>
              <a:t>❓ </a:t>
            </a:r>
            <a:r>
              <a:rPr sz="1600" i="1">
                <a:solidFill>
                  <a:srgbClr val="E74C3C"/>
                </a:solidFill>
              </a:rPr>
              <a:t>Tienes una bolsa con 10 canicas: 7 rojas y 3 azules.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Si metes la mano sin mirar, ¿qué color es más fácil de sacar?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Respuesta: ¡El rojo!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Tienes más chances de sacar una canica roja porque hay más.</a:t>
            </a:r>
          </a:p>
          <a:p>
            <a:r>
              <a:rPr sz="1600"/>
              <a:t>💡 </a:t>
            </a:r>
            <a:r>
              <a:rPr sz="1600" i="1">
                <a:solidFill>
                  <a:srgbClr val="F1C40F"/>
                </a:solidFill>
              </a:rPr>
              <a:t>¡La probabilidad te dice cuál es la apuesta más segura! 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2980B9"/>
                </a:solidFill>
              </a:defRPr>
            </a:pPr>
            <a:r>
              <a:t>Diferencias Clave: Detective vs. Mago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8229600" cy="0"/>
          </a:xfrm>
          <a:prstGeom prst="rect">
            <a:avLst/>
          </a:prstGeom>
          <a:ln w="381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914400" y="1828800"/>
          <a:ext cx="73152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</a:tblGrid>
              <a:tr h="914400"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Estadística (Detective )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Probabilidad (Mago )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Mira al PASADO (lo que ya ocurrió)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Mira al FUTURO (lo que podría ocurrir)</a:t>
                      </a:r>
                    </a:p>
                  </a:txBody>
                  <a:tcPr/>
                </a:tc>
              </a:tr>
              <a:tr h="914400"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Trabaja con datos SEGUROS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Trabaja con la DUDA y el AZAR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Ej: Las notas del examen anterior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Ej: La chance de aprobar el próximo examen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2980B9"/>
                </a:solidFill>
              </a:defRPr>
            </a:pPr>
            <a:r>
              <a:t>¿Y esto para qué sirve?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8229600" cy="0"/>
          </a:xfrm>
          <a:prstGeom prst="rect">
            <a:avLst/>
          </a:prstGeom>
          <a:ln w="381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800">
                <a:solidFill>
                  <a:srgbClr val="2C3E50"/>
                </a:solidFill>
              </a:defRPr>
            </a:pPr>
            <a:r>
              <a:t> En medicina: para saber si una vacuna funciona.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 En negocios: para decidir qué producto vender más.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 En ciencia: para descubrir patrones en la naturaleza.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¡En resumen: para tomar decisiones más inteligentes!</a:t>
            </a:r>
          </a:p>
          <a:p>
            <a:r>
              <a:rPr sz="1600"/>
              <a:t>💡 </a:t>
            </a:r>
            <a:r>
              <a:rPr sz="1600" i="1">
                <a:solidFill>
                  <a:srgbClr val="F1C40F"/>
                </a:solidFill>
              </a:rPr>
              <a:t>¡Te ayuda a no equivocarte tanto! 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2980B9"/>
                </a:solidFill>
              </a:defRPr>
            </a:pPr>
            <a:r>
              <a:t>Palabras 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8229600" cy="0"/>
          </a:xfrm>
          <a:prstGeom prst="rect">
            <a:avLst/>
          </a:prstGeom>
          <a:ln w="381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800">
                <a:solidFill>
                  <a:srgbClr val="2C3E50"/>
                </a:solidFill>
              </a:defRPr>
            </a:pPr>
            <a:r>
              <a:t> Población: TODO el grupo que quieres estudiar (ej: todos los estudiantes de un colegio).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 Muestra: Una pequeña parte de ese grupo (ej: solo los estudiantes de tu salón).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 Evento: Algo que puede pasar (ej: que salga 'cara' en una moneda).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 Experimento: La acción que haces para ver qué pasa (ej: lanzar la moneda).</a:t>
            </a:r>
          </a:p>
          <a:p>
            <a:r>
              <a:rPr sz="1600"/>
              <a:t>💡 </a:t>
            </a:r>
            <a:r>
              <a:rPr sz="1600" i="1">
                <a:solidFill>
                  <a:srgbClr val="F1C40F"/>
                </a:solidFill>
              </a:rPr>
              <a:t>¡Estudiamos una muestra para entender a toda la población!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2980B9"/>
                </a:solidFill>
              </a:defRPr>
            </a:pPr>
            <a:r>
              <a:t>¡Un Experimento para Ti!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8229600" cy="0"/>
          </a:xfrm>
          <a:prstGeom prst="rect">
            <a:avLst/>
          </a:prstGeom>
          <a:ln w="381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r>
              <a:rPr sz="1600"/>
              <a:t>❓ </a:t>
            </a:r>
            <a:r>
              <a:rPr sz="1600" i="1">
                <a:solidFill>
                  <a:srgbClr val="E74C3C"/>
                </a:solidFill>
              </a:rPr>
              <a:t>Lanza una moneda 10 veces y anota los resultados en un papel.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Estadística (tu lado detective): Cuenta cuántas 'caras' y cuántos 'sellos' te salieron.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Probabilidad (tu lado mago): ¿Qué crees que debería salir? Teóricamente, es 50 por ciento y 50 por ciento.</a:t>
            </a:r>
          </a:p>
          <a:p>
            <a:r>
              <a:rPr sz="1600"/>
              <a:t>💡 </a:t>
            </a:r>
            <a:r>
              <a:rPr sz="1600" i="1">
                <a:solidFill>
                  <a:srgbClr val="F1C40F"/>
                </a:solidFill>
              </a:rPr>
              <a:t>¿Tus resultados se parecen a la teoría? ¡A veces sí, a veces no! Eso es el azar.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2980B9"/>
                </a:solidFill>
              </a:defRPr>
            </a:pPr>
            <a:r>
              <a:t>La Escalera de la Probabilidad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8229600" cy="0"/>
          </a:xfrm>
          <a:prstGeom prst="rect">
            <a:avLst/>
          </a:prstGeom>
          <a:ln w="381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800">
                <a:solidFill>
                  <a:srgbClr val="2C3E50"/>
                </a:solidFill>
              </a:defRPr>
            </a:pPr>
            <a:r>
              <a:t>Imposible (0 por ciento): Que un perro maúlle.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Poco probable (25 por ciento): Ganar una rifa con muchos números.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Puede ser (50 por ciento): Que salga 'sello' al lanzar una moneda.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Muy probable (75 por ciento): Que un helado se derrita en el sol.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Seguro (100 por ciento): Que después del 1 venga el 2.</a:t>
            </a:r>
          </a:p>
          <a:p>
            <a:r>
              <a:rPr sz="1600"/>
              <a:t>💡 </a:t>
            </a:r>
            <a:r>
              <a:rPr sz="1600" i="1">
                <a:solidFill>
                  <a:srgbClr val="F1C40F"/>
                </a:solidFill>
              </a:rPr>
              <a:t>¡Todo lo que puede pasar tiene un lugar en esta escalera!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2980B9"/>
                </a:solidFill>
              </a:defRPr>
            </a:pPr>
            <a:r>
              <a:t>¿Listo para la Aventura?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8229600" cy="0"/>
          </a:xfrm>
          <a:prstGeom prst="rect">
            <a:avLst/>
          </a:prstGeom>
          <a:ln w="381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800">
                <a:solidFill>
                  <a:srgbClr val="2C3E50"/>
                </a:solidFill>
              </a:defRPr>
            </a:pPr>
            <a:r>
              <a:t> Ya sabes qué es la Estadística (el detective).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 Ya sabes qué es la Probabilidad (el mago).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 Viste que están en todos lados.</a:t>
            </a:r>
          </a:p>
          <a:p>
            <a:r>
              <a:rPr sz="1600"/>
              <a:t>💡 </a:t>
            </a:r>
            <a:r>
              <a:rPr sz="1600" i="1">
                <a:solidFill>
                  <a:srgbClr val="F1C40F"/>
                </a:solidFill>
              </a:rPr>
              <a:t>¡Ahora estás listo para aprender los trucos de cada uno!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En las próximas clases veremos: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 Cómo hacer tablas y gráficos geniales.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 Cómo encontrar el 'corazón' de los datos.</a:t>
            </a:r>
          </a:p>
          <a:p>
            <a:pPr>
              <a:defRPr sz="1800">
                <a:solidFill>
                  <a:srgbClr val="2C3E50"/>
                </a:solidFill>
              </a:defRPr>
            </a:pPr>
            <a:r>
              <a:t> Cómo calcular las chances exactas de que algo pase.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